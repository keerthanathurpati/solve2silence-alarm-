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media/image9.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58" r:id="rId6"/>
    <p:sldId id="281" r:id="rId7"/>
    <p:sldId id="260" r:id="rId8"/>
    <p:sldId id="261" r:id="rId9"/>
    <p:sldId id="262" r:id="rId10"/>
    <p:sldId id="263" r:id="rId11"/>
    <p:sldId id="278" r:id="rId12"/>
    <p:sldId id="264" r:id="rId13"/>
    <p:sldId id="279" r:id="rId14"/>
    <p:sldId id="280" r:id="rId15"/>
    <p:sldId id="271" r:id="rId16"/>
    <p:sldId id="268" r:id="rId17"/>
    <p:sldId id="272" r:id="rId18"/>
    <p:sldId id="274" r:id="rId19"/>
    <p:sldId id="266" r:id="rId20"/>
    <p:sldId id="267" r:id="rId21"/>
    <p:sldId id="259" r:id="rId22"/>
  </p:sldIdLst>
  <p:sldSz cx="12192000" cy="6858000"/>
  <p:notesSz cx="6858000" cy="9144000"/>
  <p:embeddedFontLst>
    <p:embeddedFont>
      <p:font typeface="Calibri" panose="020F0502020204030204"/>
      <p:regular r:id="rId26"/>
    </p:embeddedFont>
    <p:embeddedFont>
      <p:font typeface="Lato Black" panose="020F0502020204030203"/>
      <p:bold r:id="rId27"/>
    </p:embeddedFont>
    <p:embeddedFont>
      <p:font typeface="Calibri" panose="020F0502020204030204" pitchFamily="34" charset="0"/>
      <p:regular r:id="rId28"/>
      <p:bold r:id="rId29"/>
      <p:italic r:id="rId30"/>
      <p:boldItalic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208" autoAdjust="0"/>
    <p:restoredTop sz="94660"/>
  </p:normalViewPr>
  <p:slideViewPr>
    <p:cSldViewPr snapToGrid="0">
      <p:cViewPr varScale="1">
        <p:scale>
          <a:sx n="74" d="100"/>
          <a:sy n="74" d="100"/>
        </p:scale>
        <p:origin x="474"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font" Target="fonts/font6.fntdata"/><Relationship Id="rId30" Type="http://schemas.openxmlformats.org/officeDocument/2006/relationships/font" Target="fonts/font5.fntdata"/><Relationship Id="rId3" Type="http://schemas.openxmlformats.org/officeDocument/2006/relationships/slide" Target="slides/slide1.xml"/><Relationship Id="rId29" Type="http://schemas.openxmlformats.org/officeDocument/2006/relationships/font" Target="fonts/font4.fntdata"/><Relationship Id="rId28" Type="http://schemas.openxmlformats.org/officeDocument/2006/relationships/font" Target="fonts/font3.fntdata"/><Relationship Id="rId27" Type="http://schemas.openxmlformats.org/officeDocument/2006/relationships/font" Target="fonts/font2.fntdata"/><Relationship Id="rId26" Type="http://schemas.openxmlformats.org/officeDocument/2006/relationships/font" Target="fonts/font1.fntdata"/><Relationship Id="rId25" Type="http://schemas.openxmlformats.org/officeDocument/2006/relationships/tableStyles" Target="tableStyles.xml"/><Relationship Id="rId24" Type="http://schemas.openxmlformats.org/officeDocument/2006/relationships/viewProps" Target="viewProps.xml"/><Relationship Id="rId23" Type="http://schemas.openxmlformats.org/officeDocument/2006/relationships/presProps" Target="presProps.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panose="020B0604020202020204"/>
              <a:buNone/>
            </a:pPr>
            <a:fld id="{00000000-1234-1234-1234-123412341234}" type="slidenum">
              <a:rPr lang="en-IN"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panose="020F0502020204030204"/>
              <a:buNone/>
            </a:p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2" name="Google Shape;102;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6"/>
        <p:cNvGrpSpPr/>
        <p:nvPr/>
      </p:nvGrpSpPr>
      <p:grpSpPr>
        <a:xfrm>
          <a:off x="0" y="0"/>
          <a:ext cx="0" cy="0"/>
          <a:chOff x="0" y="0"/>
          <a:chExt cx="0" cy="0"/>
        </a:xfrm>
      </p:grpSpPr>
      <p:sp>
        <p:nvSpPr>
          <p:cNvPr id="107" name="Google Shape;107;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p>
        </p:txBody>
      </p:sp>
      <p:sp>
        <p:nvSpPr>
          <p:cNvPr id="108" name="Google Shape;108;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panose="020F0502020204030204"/>
              <a:buNone/>
            </a:p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0" name="Google Shape;20;p7"/>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1"/>
        <p:cNvGrpSpPr/>
        <p:nvPr/>
      </p:nvGrpSpPr>
      <p:grpSpPr>
        <a:xfrm>
          <a:off x="0" y="0"/>
          <a:ext cx="0" cy="0"/>
          <a:chOff x="0" y="0"/>
          <a:chExt cx="0" cy="0"/>
        </a:xfrm>
      </p:grpSpPr>
      <p:sp>
        <p:nvSpPr>
          <p:cNvPr id="22" name="Google Shape;22;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25" name="Google Shape;25;p9"/>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26"/>
        <p:cNvGrpSpPr/>
        <p:nvPr/>
      </p:nvGrpSpPr>
      <p:grpSpPr>
        <a:xfrm>
          <a:off x="0" y="0"/>
          <a:ext cx="0" cy="0"/>
          <a:chOff x="0" y="0"/>
          <a:chExt cx="0" cy="0"/>
        </a:xfrm>
      </p:grpSpPr>
      <p:sp>
        <p:nvSpPr>
          <p:cNvPr id="27" name="Google Shape;27;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9" name="Google Shape;29;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2" name="Google Shape;32;p10"/>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33"/>
        <p:cNvGrpSpPr/>
        <p:nvPr/>
      </p:nvGrpSpPr>
      <p:grpSpPr>
        <a:xfrm>
          <a:off x="0" y="0"/>
          <a:ext cx="0" cy="0"/>
          <a:chOff x="0" y="0"/>
          <a:chExt cx="0" cy="0"/>
        </a:xfrm>
      </p:grpSpPr>
      <p:sp>
        <p:nvSpPr>
          <p:cNvPr id="34" name="Google Shape;34;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39" name="Google Shape;39;p8"/>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46" name="Google Shape;46;p11"/>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54" name="Google Shape;54;p12"/>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64" name="Google Shape;64;p13"/>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72" name="Google Shape;72;p14"/>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a:spLocks noGrp="1"/>
          </p:cNvSpPr>
          <p:nvPr>
            <p:ph type="pic" idx="2"/>
          </p:nvPr>
        </p:nvSpPr>
        <p:spPr>
          <a:xfrm>
            <a:off x="5183188" y="987425"/>
            <a:ext cx="6172200" cy="4873625"/>
          </a:xfrm>
          <a:prstGeom prst="rect">
            <a:avLst/>
          </a:prstGeom>
          <a:noFill/>
          <a:ln>
            <a:noFill/>
          </a:ln>
        </p:spPr>
        <p:txBody>
          <a:bodyPr/>
          <a:lstStyle/>
          <a:p>
            <a:endParaRPr lang="en-IN"/>
          </a:p>
        </p:txBody>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0" name="Google Shape;80;p15"/>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pic>
        <p:nvPicPr>
          <p:cNvPr id="87" name="Google Shape;87;p16"/>
          <p:cNvPicPr preferRelativeResize="0"/>
          <p:nvPr/>
        </p:nvPicPr>
        <p:blipFill rotWithShape="1">
          <a:blip r:embed="rId2"/>
          <a:srcRect/>
          <a:stretch>
            <a:fillRect/>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lnSpc>
                <a:spcPct val="100000"/>
              </a:lnSpc>
              <a:spcBef>
                <a:spcPts val="0"/>
              </a:spcBef>
              <a:spcAft>
                <a:spcPts val="0"/>
              </a:spcAft>
              <a:buClr>
                <a:srgbClr val="000000"/>
              </a:buClr>
              <a:buSzPts val="1200"/>
              <a:buFont typeface="Arial" panose="020B0604020202020204"/>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IN"/>
            </a:fld>
            <a:endParaRPr lang="en-I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8.png"/><Relationship Id="rId1"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webp"/></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1"/>
          <a:srcRect/>
          <a:stretch>
            <a:fillRect/>
          </a:stretch>
        </p:blipFill>
        <p:spPr>
          <a:xfrm>
            <a:off x="9525" y="-450761"/>
            <a:ext cx="12190815" cy="6694098"/>
          </a:xfrm>
          <a:prstGeom prst="rect">
            <a:avLst/>
          </a:prstGeom>
          <a:noFill/>
          <a:ln>
            <a:noFill/>
          </a:ln>
        </p:spPr>
      </p:pic>
      <p:sp>
        <p:nvSpPr>
          <p:cNvPr id="99" name="Google Shape;99;p1"/>
          <p:cNvSpPr txBox="1"/>
          <p:nvPr/>
        </p:nvSpPr>
        <p:spPr>
          <a:xfrm>
            <a:off x="2472904" y="3717986"/>
            <a:ext cx="7246189" cy="459105"/>
          </a:xfrm>
          <a:prstGeom prst="rect">
            <a:avLst/>
          </a:prstGeom>
          <a:noFill/>
          <a:ln>
            <a:noFill/>
          </a:ln>
        </p:spPr>
        <p:txBody>
          <a:bodyPr spcFirstLastPara="1" wrap="square" lIns="91425" tIns="45700" rIns="91425" bIns="45700" anchor="t" anchorCtr="0">
            <a:spAutoFit/>
          </a:bodyPr>
          <a:lstStyle/>
          <a:p>
            <a:pPr lvl="0" algn="ctr">
              <a:buSzPts val="1800"/>
            </a:pPr>
            <a:r>
              <a:rPr lang="en-IN" altLang="en-US" sz="2400" b="1" u="sng" dirty="0">
                <a:effectLst>
                  <a:outerShdw blurRad="38100" dist="38100" dir="2700000" algn="tl">
                    <a:srgbClr val="000000">
                      <a:alpha val="43137"/>
                    </a:srgbClr>
                  </a:outerShdw>
                </a:effectLst>
              </a:rPr>
              <a:t>Solve - 2  - Silence</a:t>
            </a:r>
            <a:r>
              <a:rPr lang="en-US" sz="2400" b="1" u="sng" dirty="0">
                <a:effectLst>
                  <a:outerShdw blurRad="38100" dist="38100" dir="2700000" algn="tl">
                    <a:srgbClr val="000000">
                      <a:alpha val="43137"/>
                    </a:srgbClr>
                  </a:outerShdw>
                </a:effectLst>
              </a:rPr>
              <a:t> </a:t>
            </a:r>
            <a:endParaRPr sz="1800" b="1" u="sng" strike="noStrike" cap="none" dirty="0">
              <a:solidFill>
                <a:srgbClr val="000000"/>
              </a:solidFill>
              <a:effectLst>
                <a:outerShdw blurRad="38100" dist="38100" dir="2700000" algn="tl">
                  <a:srgbClr val="000000">
                    <a:alpha val="43137"/>
                  </a:srgbClr>
                </a:outerShdw>
              </a:effectLst>
              <a:sym typeface="Arial" panose="020B0604020202020204"/>
            </a:endParaRPr>
          </a:p>
        </p:txBody>
      </p:sp>
      <p:sp>
        <p:nvSpPr>
          <p:cNvPr id="2" name="TextBox 1"/>
          <p:cNvSpPr txBox="1"/>
          <p:nvPr/>
        </p:nvSpPr>
        <p:spPr>
          <a:xfrm>
            <a:off x="8822028" y="5320007"/>
            <a:ext cx="2459866" cy="922020"/>
          </a:xfrm>
          <a:prstGeom prst="rect">
            <a:avLst/>
          </a:prstGeom>
          <a:noFill/>
        </p:spPr>
        <p:txBody>
          <a:bodyPr wrap="square" rtlCol="0">
            <a:spAutoFit/>
          </a:bodyPr>
          <a:lstStyle/>
          <a:p>
            <a:r>
              <a:rPr lang="en-US" sz="1800" b="1" dirty="0">
                <a:solidFill>
                  <a:srgbClr val="FF0000"/>
                </a:solidFill>
              </a:rPr>
              <a:t>Presented by </a:t>
            </a:r>
            <a:r>
              <a:rPr lang="en-US" sz="1800" b="1" dirty="0"/>
              <a:t>:</a:t>
            </a:r>
            <a:endParaRPr lang="en-US" sz="1800" b="1" dirty="0"/>
          </a:p>
          <a:p>
            <a:r>
              <a:rPr lang="en-IN" altLang="en-US" sz="1800" b="1" dirty="0"/>
              <a:t>T.Keerthana</a:t>
            </a:r>
            <a:endParaRPr lang="en-US" sz="1800" b="1" dirty="0"/>
          </a:p>
          <a:p>
            <a:r>
              <a:rPr lang="en-US" sz="1800" b="1" dirty="0">
                <a:solidFill>
                  <a:srgbClr val="FF0000"/>
                </a:solidFill>
              </a:rPr>
              <a:t>Batch No </a:t>
            </a:r>
            <a:r>
              <a:rPr lang="en-US" sz="1800" b="1" dirty="0"/>
              <a:t>: 504</a:t>
            </a:r>
            <a:endParaRPr lang="en-IN" sz="1800" b="1"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9"/>
                                        </p:tgtEl>
                                        <p:attrNameLst>
                                          <p:attrName>style.visibility</p:attrName>
                                        </p:attrNameLst>
                                      </p:cBhvr>
                                      <p:to>
                                        <p:strVal val="visible"/>
                                      </p:to>
                                    </p:set>
                                    <p:anim calcmode="lin" valueType="num">
                                      <p:cBhvr>
                                        <p:cTn id="7" dur="500" fill="hold"/>
                                        <p:tgtEl>
                                          <p:spTgt spid="99"/>
                                        </p:tgtEl>
                                        <p:attrNameLst>
                                          <p:attrName>ppt_w</p:attrName>
                                        </p:attrNameLst>
                                      </p:cBhvr>
                                      <p:tavLst>
                                        <p:tav tm="0">
                                          <p:val>
                                            <p:fltVal val="0"/>
                                          </p:val>
                                        </p:tav>
                                        <p:tav tm="100000">
                                          <p:val>
                                            <p:strVal val="#ppt_w"/>
                                          </p:val>
                                        </p:tav>
                                      </p:tavLst>
                                    </p:anim>
                                    <p:anim calcmode="lin" valueType="num">
                                      <p:cBhvr>
                                        <p:cTn id="8" dur="500" fill="hold"/>
                                        <p:tgtEl>
                                          <p:spTgt spid="99"/>
                                        </p:tgtEl>
                                        <p:attrNameLst>
                                          <p:attrName>ppt_h</p:attrName>
                                        </p:attrNameLst>
                                      </p:cBhvr>
                                      <p:tavLst>
                                        <p:tav tm="0">
                                          <p:val>
                                            <p:fltVal val="0"/>
                                          </p:val>
                                        </p:tav>
                                        <p:tav tm="100000">
                                          <p:val>
                                            <p:strVal val="#ppt_h"/>
                                          </p:val>
                                        </p:tav>
                                      </p:tavLst>
                                    </p:anim>
                                    <p:animEffect transition="in" filter="fade">
                                      <p:cBhvr>
                                        <p:cTn id="9" dur="500"/>
                                        <p:tgtEl>
                                          <p:spTgt spid="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p:nvPr/>
        </p:nvSpPr>
        <p:spPr>
          <a:xfrm>
            <a:off x="324485" y="1183005"/>
            <a:ext cx="12112625" cy="3879215"/>
          </a:xfrm>
          <a:prstGeom prst="rect">
            <a:avLst/>
          </a:prstGeom>
          <a:noFill/>
          <a:ln>
            <a:noFill/>
          </a:ln>
        </p:spPr>
        <p:txBody>
          <a:bodyPr spcFirstLastPara="1" wrap="square" lIns="91425" tIns="45700" rIns="91425" bIns="45700" anchor="t" anchorCtr="0">
            <a:noAutofit/>
          </a:bodyPr>
          <a:lstStyle/>
          <a:p>
            <a:pPr marL="285750" marR="0" lvl="0" indent="-323850" algn="l" rtl="0">
              <a:lnSpc>
                <a:spcPct val="100000"/>
              </a:lnSpc>
              <a:spcBef>
                <a:spcPts val="0"/>
              </a:spcBef>
              <a:spcAft>
                <a:spcPts val="0"/>
              </a:spcAft>
              <a:buClr>
                <a:schemeClr val="dk1"/>
              </a:buClr>
              <a:buSzPts val="2400"/>
              <a:buFont typeface="Arial" panose="020B0604020202020204"/>
              <a:buChar char="•"/>
            </a:pPr>
            <a:r>
              <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rPr>
              <a:t>Background: </a:t>
            </a:r>
            <a:endPar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endParaRPr>
          </a:p>
          <a:p>
            <a:pPr lvl="2">
              <a:buClr>
                <a:schemeClr val="dk1"/>
              </a:buClr>
              <a:buSzPts val="2400"/>
            </a:pPr>
            <a:r>
              <a:rPr lang="en-IN" sz="2400" b="1" dirty="0">
                <a:solidFill>
                  <a:srgbClr val="FF0000"/>
                </a:solidFill>
                <a:latin typeface="Calibri" panose="020F0502020204030204"/>
                <a:ea typeface="Calibri" panose="020F0502020204030204"/>
                <a:cs typeface="Calibri" panose="020F0502020204030204"/>
                <a:sym typeface="Calibri" panose="020F0502020204030204"/>
              </a:rPr>
              <a:t>	</a:t>
            </a:r>
            <a:r>
              <a:rPr lang="en-IN"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I completed my </a:t>
            </a:r>
            <a:r>
              <a:rPr 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Bachelor of Technology in CSE</a:t>
            </a:r>
            <a:r>
              <a:rPr lang="en-IN" alt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rPr>
              <a:t> from Bhoj Reddy Engineering College for Women.</a:t>
            </a:r>
            <a:endParaRPr lang="en-IN" altLang="en-US" sz="2400" b="1" i="0" u="none" strike="noStrike" cap="none" dirty="0">
              <a:solidFill>
                <a:schemeClr val="dk1"/>
              </a:solidFill>
              <a:latin typeface="Calibri" panose="020F0502020204030204"/>
              <a:ea typeface="Calibri" panose="020F0502020204030204"/>
              <a:cs typeface="Calibri" panose="020F0502020204030204"/>
              <a:sym typeface="Calibri" panose="020F0502020204030204"/>
            </a:endParaRPr>
          </a:p>
          <a:p>
            <a:pPr marL="342900" lvl="2" indent="-342900">
              <a:buClr>
                <a:schemeClr val="dk1"/>
              </a:buClr>
              <a:buSzPts val="2400"/>
              <a:buFont typeface="Arial" panose="020B0604020202020204" pitchFamily="34" charset="0"/>
              <a:buChar char="•"/>
            </a:pPr>
            <a:r>
              <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rPr>
              <a:t>Why you want to learn Data Science:</a:t>
            </a:r>
            <a:endPar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endParaRPr>
          </a:p>
          <a:p>
            <a:pPr marL="457200" lvl="3" indent="457200">
              <a:buClr>
                <a:schemeClr val="dk1"/>
              </a:buClr>
              <a:buSzPts val="2400"/>
              <a:buFont typeface="Arial" panose="020B0604020202020204" pitchFamily="34" charset="0"/>
              <a:buNone/>
            </a:pPr>
            <a:r>
              <a:rPr lang="en-IN" sz="2400" b="1" i="0" u="none" strike="noStrike" cap="none" dirty="0">
                <a:solidFill>
                  <a:schemeClr val="tx1"/>
                </a:solidFill>
                <a:latin typeface="Calibri" panose="020F0502020204030204"/>
                <a:ea typeface="Calibri" panose="020F0502020204030204"/>
                <a:cs typeface="Calibri" panose="020F0502020204030204"/>
                <a:sym typeface="Calibri" panose="020F0502020204030204"/>
              </a:rPr>
              <a:t>I want to learn data science to improve my skills and get high payeable job.</a:t>
            </a:r>
            <a:endParaRPr sz="2400" b="1" i="0" u="none" strike="noStrike" cap="none" dirty="0">
              <a:solidFill>
                <a:schemeClr val="tx1"/>
              </a:solidFill>
              <a:latin typeface="Calibri" panose="020F0502020204030204"/>
              <a:ea typeface="Calibri" panose="020F0502020204030204"/>
              <a:cs typeface="Calibri" panose="020F0502020204030204"/>
              <a:sym typeface="Calibri" panose="020F0502020204030204"/>
            </a:endParaRPr>
          </a:p>
          <a:p>
            <a:pPr marL="285750" marR="0" lvl="0" indent="-323850" algn="l" rtl="0">
              <a:lnSpc>
                <a:spcPct val="100000"/>
              </a:lnSpc>
              <a:spcBef>
                <a:spcPts val="0"/>
              </a:spcBef>
              <a:spcAft>
                <a:spcPts val="0"/>
              </a:spcAft>
              <a:buClr>
                <a:schemeClr val="dk1"/>
              </a:buClr>
              <a:buSzPts val="2400"/>
              <a:buFont typeface="Arial" panose="020B0604020202020204"/>
              <a:buChar char="•"/>
            </a:pPr>
            <a:r>
              <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rPr>
              <a:t>Any work experience:</a:t>
            </a:r>
            <a:endPar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endParaRPr>
          </a:p>
          <a:p>
            <a:pPr lvl="1">
              <a:buClr>
                <a:schemeClr val="dk1"/>
              </a:buClr>
              <a:buSzPts val="2400"/>
            </a:pPr>
            <a:r>
              <a:rPr lang="en-IN" sz="2400" b="1" dirty="0">
                <a:solidFill>
                  <a:srgbClr val="FF0000"/>
                </a:solidFill>
                <a:latin typeface="Calibri" panose="020F0502020204030204"/>
                <a:ea typeface="Calibri" panose="020F0502020204030204"/>
                <a:cs typeface="Calibri" panose="020F0502020204030204"/>
                <a:sym typeface="Calibri" panose="020F0502020204030204"/>
              </a:rPr>
              <a:t>	</a:t>
            </a:r>
            <a:r>
              <a:rPr lang="en-IN" sz="2400" b="1" dirty="0">
                <a:solidFill>
                  <a:schemeClr val="tx1"/>
                </a:solidFill>
                <a:latin typeface="Calibri" panose="020F0502020204030204"/>
                <a:ea typeface="Calibri" panose="020F0502020204030204"/>
                <a:cs typeface="Calibri" panose="020F0502020204030204"/>
                <a:sym typeface="Calibri" panose="020F0502020204030204"/>
              </a:rPr>
              <a:t>So, far I have no </a:t>
            </a:r>
            <a:r>
              <a:rPr lang="en-US" sz="2400" b="1" dirty="0">
                <a:solidFill>
                  <a:schemeClr val="tx1"/>
                </a:solidFill>
                <a:latin typeface="Calibri" panose="020F0502020204030204"/>
                <a:ea typeface="Calibri" panose="020F0502020204030204"/>
                <a:cs typeface="Calibri" panose="020F0502020204030204"/>
                <a:sym typeface="Calibri" panose="020F0502020204030204"/>
              </a:rPr>
              <a:t>experience </a:t>
            </a:r>
            <a:endParaRPr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endParaRPr>
          </a:p>
          <a:p>
            <a:pPr marL="285750" lvl="0" indent="-323850">
              <a:buClr>
                <a:schemeClr val="dk1"/>
              </a:buClr>
              <a:buSzPts val="2400"/>
              <a:buFont typeface="Calibri" panose="020F0502020204030204"/>
              <a:buChar char="•"/>
            </a:pPr>
            <a:r>
              <a:rPr lang="en-IN" sz="2400" b="1" dirty="0">
                <a:solidFill>
                  <a:srgbClr val="FF0000"/>
                </a:solidFill>
                <a:latin typeface="Calibri" panose="020F0502020204030204"/>
                <a:ea typeface="Calibri" panose="020F0502020204030204"/>
                <a:cs typeface="Calibri" panose="020F0502020204030204"/>
                <a:sym typeface="Calibri" panose="020F0502020204030204"/>
              </a:rPr>
              <a:t>LinkedIn : </a:t>
            </a:r>
            <a:r>
              <a:rPr lang="en-US" altLang="en-US" sz="2400" b="1" dirty="0">
                <a:solidFill>
                  <a:schemeClr val="tx1"/>
                </a:solidFill>
                <a:latin typeface="Calibri" panose="020F0502020204030204"/>
                <a:ea typeface="Calibri" panose="020F0502020204030204"/>
                <a:cs typeface="Calibri" panose="020F0502020204030204"/>
                <a:sym typeface="Calibri" panose="020F0502020204030204"/>
              </a:rPr>
              <a:t>www.linkedin.com/in/keerthana-thurpati</a:t>
            </a:r>
            <a:endParaRPr lang="en-US" altLang="en-US" sz="2400" b="1" dirty="0">
              <a:solidFill>
                <a:schemeClr val="tx1"/>
              </a:solidFill>
              <a:latin typeface="Calibri" panose="020F0502020204030204"/>
              <a:ea typeface="Calibri" panose="020F0502020204030204"/>
              <a:cs typeface="Calibri" panose="020F0502020204030204"/>
              <a:sym typeface="Calibri" panose="020F0502020204030204"/>
            </a:endParaRPr>
          </a:p>
          <a:p>
            <a:pPr marL="285750" lvl="0" indent="-323850">
              <a:buClr>
                <a:schemeClr val="dk1"/>
              </a:buClr>
              <a:buSzPts val="2400"/>
              <a:buFont typeface="Calibri" panose="020F0502020204030204"/>
              <a:buChar char="•"/>
            </a:pPr>
            <a:r>
              <a:rPr lang="en-IN" sz="2400" b="1" dirty="0">
                <a:solidFill>
                  <a:srgbClr val="FF0000"/>
                </a:solidFill>
                <a:latin typeface="Calibri" panose="020F0502020204030204"/>
                <a:ea typeface="Calibri" panose="020F0502020204030204"/>
                <a:cs typeface="Calibri" panose="020F0502020204030204"/>
                <a:sym typeface="Calibri" panose="020F0502020204030204"/>
              </a:rPr>
              <a:t>GitHub</a:t>
            </a:r>
            <a:r>
              <a:rPr lang="en-IN" sz="2400" b="1" i="0" u="none" strike="noStrike" cap="none" dirty="0">
                <a:solidFill>
                  <a:srgbClr val="FF0000"/>
                </a:solidFill>
                <a:latin typeface="Calibri" panose="020F0502020204030204"/>
                <a:ea typeface="Calibri" panose="020F0502020204030204"/>
                <a:cs typeface="Calibri" panose="020F0502020204030204"/>
                <a:sym typeface="Calibri" panose="020F0502020204030204"/>
              </a:rPr>
              <a:t> :    </a:t>
            </a:r>
            <a:r>
              <a:rPr lang="en-US" altLang="en-US" sz="2400" b="1" i="0" u="none" strike="noStrike" cap="none" dirty="0">
                <a:solidFill>
                  <a:schemeClr val="tx1"/>
                </a:solidFill>
                <a:latin typeface="Calibri" panose="020F0502020204030204"/>
                <a:ea typeface="Calibri" panose="020F0502020204030204"/>
                <a:cs typeface="Calibri" panose="020F0502020204030204"/>
                <a:sym typeface="Calibri" panose="020F0502020204030204"/>
              </a:rPr>
              <a:t>https://github.com/KeerthanaThurpati</a:t>
            </a:r>
            <a:endParaRPr lang="en-US" altLang="en-US" sz="2400" b="1" i="0" u="none" strike="noStrike" cap="none" dirty="0">
              <a:solidFill>
                <a:schemeClr val="tx1"/>
              </a:solidFill>
              <a:latin typeface="Calibri" panose="020F0502020204030204"/>
              <a:ea typeface="Calibri" panose="020F0502020204030204"/>
              <a:cs typeface="Calibri" panose="020F0502020204030204"/>
              <a:sym typeface="Calibri" panose="020F0502020204030204"/>
            </a:endParaRPr>
          </a:p>
        </p:txBody>
      </p:sp>
      <p:sp>
        <p:nvSpPr>
          <p:cNvPr id="105" name="Google Shape;105;p3"/>
          <p:cNvSpPr txBox="1"/>
          <p:nvPr/>
        </p:nvSpPr>
        <p:spPr>
          <a:xfrm>
            <a:off x="427656" y="416554"/>
            <a:ext cx="6099600" cy="584735"/>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rgbClr val="FF0000"/>
              </a:buClr>
              <a:buSzPts val="3200"/>
              <a:buFont typeface="Lato Black" panose="020F0502020204030203"/>
              <a:buNone/>
            </a:pPr>
            <a:r>
              <a:rPr lang="en-IN" sz="4000" b="1" i="0" u="sng" strike="noStrike" cap="none" dirty="0">
                <a:solidFill>
                  <a:srgbClr val="FF0000"/>
                </a:solidFill>
                <a:latin typeface="Calibri" panose="020F0502020204030204" pitchFamily="34" charset="0"/>
                <a:ea typeface="Calibri" panose="020F0502020204030204" pitchFamily="34" charset="0"/>
                <a:cs typeface="Calibri" panose="020F0502020204030204" pitchFamily="34" charset="0"/>
                <a:sym typeface="Lato Black" panose="020F0502020204030203"/>
              </a:rPr>
              <a:t>About</a:t>
            </a:r>
            <a:r>
              <a:rPr lang="en-IN" sz="3200" b="0" i="0" u="sng" strike="noStrike" cap="none" dirty="0">
                <a:solidFill>
                  <a:srgbClr val="FF0000"/>
                </a:solidFill>
                <a:latin typeface="Lato Black" panose="020F0502020204030203"/>
                <a:ea typeface="Lato Black" panose="020F0502020204030203"/>
                <a:cs typeface="Lato Black" panose="020F0502020204030203"/>
                <a:sym typeface="Lato Black" panose="020F0502020204030203"/>
              </a:rPr>
              <a:t> </a:t>
            </a:r>
            <a:r>
              <a:rPr lang="en-IN" sz="3200" b="0" i="0" u="sng" strike="noStrike" cap="none" dirty="0">
                <a:solidFill>
                  <a:schemeClr val="tx1"/>
                </a:solidFill>
                <a:latin typeface="Lato Black" panose="020F0502020204030203"/>
                <a:ea typeface="Lato Black" panose="020F0502020204030203"/>
                <a:cs typeface="Lato Black" panose="020F0502020204030203"/>
                <a:sym typeface="Lato Black" panose="020F0502020204030203"/>
              </a:rPr>
              <a:t>Me</a:t>
            </a:r>
            <a:endParaRPr sz="1800" b="0" i="0" u="sng" strike="noStrike" cap="none" dirty="0">
              <a:solidFill>
                <a:srgbClr val="FF0000"/>
              </a:solidFill>
              <a:latin typeface="Calibri" panose="020F0502020204030204"/>
              <a:ea typeface="Calibri" panose="020F0502020204030204"/>
              <a:cs typeface="Calibri" panose="020F0502020204030204"/>
              <a:sym typeface="Calibri" panose="020F050202020403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barn(inVertical)">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04">
                                            <p:txEl>
                                              <p:pRg st="0" end="0"/>
                                            </p:txEl>
                                          </p:spTgt>
                                        </p:tgtEl>
                                        <p:attrNameLst>
                                          <p:attrName>style.visibility</p:attrName>
                                        </p:attrNameLst>
                                      </p:cBhvr>
                                      <p:to>
                                        <p:strVal val="visible"/>
                                      </p:to>
                                    </p:set>
                                    <p:animEffect transition="in" filter="fade">
                                      <p:cBhvr>
                                        <p:cTn id="12" dur="1000"/>
                                        <p:tgtEl>
                                          <p:spTgt spid="104">
                                            <p:txEl>
                                              <p:pRg st="0" end="0"/>
                                            </p:txEl>
                                          </p:spTgt>
                                        </p:tgtEl>
                                      </p:cBhvr>
                                    </p:animEffect>
                                    <p:anim calcmode="lin" valueType="num">
                                      <p:cBhvr>
                                        <p:cTn id="13" dur="1000" fill="hold"/>
                                        <p:tgtEl>
                                          <p:spTgt spid="104">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04">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04">
                                            <p:txEl>
                                              <p:pRg st="1" end="1"/>
                                            </p:txEl>
                                          </p:spTgt>
                                        </p:tgtEl>
                                        <p:attrNameLst>
                                          <p:attrName>style.visibility</p:attrName>
                                        </p:attrNameLst>
                                      </p:cBhvr>
                                      <p:to>
                                        <p:strVal val="visible"/>
                                      </p:to>
                                    </p:set>
                                    <p:animEffect transition="in" filter="fade">
                                      <p:cBhvr>
                                        <p:cTn id="17" dur="1000"/>
                                        <p:tgtEl>
                                          <p:spTgt spid="104">
                                            <p:txEl>
                                              <p:pRg st="1" end="1"/>
                                            </p:txEl>
                                          </p:spTgt>
                                        </p:tgtEl>
                                      </p:cBhvr>
                                    </p:animEffect>
                                    <p:anim calcmode="lin" valueType="num">
                                      <p:cBhvr>
                                        <p:cTn id="18" dur="1000" fill="hold"/>
                                        <p:tgtEl>
                                          <p:spTgt spid="104">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104">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04">
                                            <p:txEl>
                                              <p:pRg st="2" end="2"/>
                                            </p:txEl>
                                          </p:spTgt>
                                        </p:tgtEl>
                                        <p:attrNameLst>
                                          <p:attrName>style.visibility</p:attrName>
                                        </p:attrNameLst>
                                      </p:cBhvr>
                                      <p:to>
                                        <p:strVal val="visible"/>
                                      </p:to>
                                    </p:set>
                                    <p:animEffect transition="in" filter="fade">
                                      <p:cBhvr>
                                        <p:cTn id="22" dur="1000"/>
                                        <p:tgtEl>
                                          <p:spTgt spid="104">
                                            <p:txEl>
                                              <p:pRg st="2" end="2"/>
                                            </p:txEl>
                                          </p:spTgt>
                                        </p:tgtEl>
                                      </p:cBhvr>
                                    </p:animEffect>
                                    <p:anim calcmode="lin" valueType="num">
                                      <p:cBhvr>
                                        <p:cTn id="23" dur="1000" fill="hold"/>
                                        <p:tgtEl>
                                          <p:spTgt spid="104">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04">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04">
                                            <p:txEl>
                                              <p:pRg st="3" end="3"/>
                                            </p:txEl>
                                          </p:spTgt>
                                        </p:tgtEl>
                                        <p:attrNameLst>
                                          <p:attrName>style.visibility</p:attrName>
                                        </p:attrNameLst>
                                      </p:cBhvr>
                                      <p:to>
                                        <p:strVal val="visible"/>
                                      </p:to>
                                    </p:set>
                                    <p:animEffect transition="in" filter="fade">
                                      <p:cBhvr>
                                        <p:cTn id="27" dur="1000"/>
                                        <p:tgtEl>
                                          <p:spTgt spid="104">
                                            <p:txEl>
                                              <p:pRg st="3" end="3"/>
                                            </p:txEl>
                                          </p:spTgt>
                                        </p:tgtEl>
                                      </p:cBhvr>
                                    </p:animEffect>
                                    <p:anim calcmode="lin" valueType="num">
                                      <p:cBhvr>
                                        <p:cTn id="28" dur="1000" fill="hold"/>
                                        <p:tgtEl>
                                          <p:spTgt spid="104">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04">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04">
                                            <p:txEl>
                                              <p:pRg st="4" end="4"/>
                                            </p:txEl>
                                          </p:spTgt>
                                        </p:tgtEl>
                                        <p:attrNameLst>
                                          <p:attrName>style.visibility</p:attrName>
                                        </p:attrNameLst>
                                      </p:cBhvr>
                                      <p:to>
                                        <p:strVal val="visible"/>
                                      </p:to>
                                    </p:set>
                                    <p:animEffect transition="in" filter="fade">
                                      <p:cBhvr>
                                        <p:cTn id="32" dur="1000"/>
                                        <p:tgtEl>
                                          <p:spTgt spid="104">
                                            <p:txEl>
                                              <p:pRg st="4" end="4"/>
                                            </p:txEl>
                                          </p:spTgt>
                                        </p:tgtEl>
                                      </p:cBhvr>
                                    </p:animEffect>
                                    <p:anim calcmode="lin" valueType="num">
                                      <p:cBhvr>
                                        <p:cTn id="33" dur="1000" fill="hold"/>
                                        <p:tgtEl>
                                          <p:spTgt spid="104">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04">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4">
                                            <p:txEl>
                                              <p:pRg st="5" end="5"/>
                                            </p:txEl>
                                          </p:spTgt>
                                        </p:tgtEl>
                                        <p:attrNameLst>
                                          <p:attrName>style.visibility</p:attrName>
                                        </p:attrNameLst>
                                      </p:cBhvr>
                                      <p:to>
                                        <p:strVal val="visible"/>
                                      </p:to>
                                    </p:set>
                                    <p:animEffect transition="in" filter="fade">
                                      <p:cBhvr>
                                        <p:cTn id="37" dur="1000"/>
                                        <p:tgtEl>
                                          <p:spTgt spid="104">
                                            <p:txEl>
                                              <p:pRg st="5" end="5"/>
                                            </p:txEl>
                                          </p:spTgt>
                                        </p:tgtEl>
                                      </p:cBhvr>
                                    </p:animEffect>
                                    <p:anim calcmode="lin" valueType="num">
                                      <p:cBhvr>
                                        <p:cTn id="38" dur="1000" fill="hold"/>
                                        <p:tgtEl>
                                          <p:spTgt spid="104">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04">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4">
                                            <p:txEl>
                                              <p:pRg st="6" end="6"/>
                                            </p:txEl>
                                          </p:spTgt>
                                        </p:tgtEl>
                                        <p:attrNameLst>
                                          <p:attrName>style.visibility</p:attrName>
                                        </p:attrNameLst>
                                      </p:cBhvr>
                                      <p:to>
                                        <p:strVal val="visible"/>
                                      </p:to>
                                    </p:set>
                                    <p:animEffect transition="in" filter="fade">
                                      <p:cBhvr>
                                        <p:cTn id="42" dur="1000"/>
                                        <p:tgtEl>
                                          <p:spTgt spid="104">
                                            <p:txEl>
                                              <p:pRg st="6" end="6"/>
                                            </p:txEl>
                                          </p:spTgt>
                                        </p:tgtEl>
                                      </p:cBhvr>
                                    </p:animEffect>
                                    <p:anim calcmode="lin" valueType="num">
                                      <p:cBhvr>
                                        <p:cTn id="43" dur="1000" fill="hold"/>
                                        <p:tgtEl>
                                          <p:spTgt spid="104">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104">
                                            <p:txEl>
                                              <p:pRg st="6" end="6"/>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04">
                                            <p:txEl>
                                              <p:pRg st="7" end="7"/>
                                            </p:txEl>
                                          </p:spTgt>
                                        </p:tgtEl>
                                        <p:attrNameLst>
                                          <p:attrName>style.visibility</p:attrName>
                                        </p:attrNameLst>
                                      </p:cBhvr>
                                      <p:to>
                                        <p:strVal val="visible"/>
                                      </p:to>
                                    </p:set>
                                    <p:animEffect transition="in" filter="fade">
                                      <p:cBhvr>
                                        <p:cTn id="47" dur="1000"/>
                                        <p:tgtEl>
                                          <p:spTgt spid="104">
                                            <p:txEl>
                                              <p:pRg st="7" end="7"/>
                                            </p:txEl>
                                          </p:spTgt>
                                        </p:tgtEl>
                                      </p:cBhvr>
                                    </p:animEffect>
                                    <p:anim calcmode="lin" valueType="num">
                                      <p:cBhvr>
                                        <p:cTn id="48" dur="1000" fill="hold"/>
                                        <p:tgtEl>
                                          <p:spTgt spid="104">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0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9"/>
        <p:cNvGrpSpPr/>
        <p:nvPr/>
      </p:nvGrpSpPr>
      <p:grpSpPr>
        <a:xfrm>
          <a:off x="0" y="0"/>
          <a:ext cx="0" cy="0"/>
          <a:chOff x="0" y="0"/>
          <a:chExt cx="0" cy="0"/>
        </a:xfrm>
      </p:grpSpPr>
      <p:sp>
        <p:nvSpPr>
          <p:cNvPr id="110" name="Google Shape;110;p4"/>
          <p:cNvSpPr txBox="1">
            <a:spLocks noGrp="1"/>
          </p:cNvSpPr>
          <p:nvPr>
            <p:ph type="title"/>
          </p:nvPr>
        </p:nvSpPr>
        <p:spPr>
          <a:xfrm>
            <a:off x="491808" y="262954"/>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0000"/>
              </a:buClr>
              <a:buSzPts val="4400"/>
              <a:buFont typeface="Calibri" panose="020F0502020204030204"/>
              <a:buNone/>
            </a:pPr>
            <a:r>
              <a:rPr lang="en-IN" b="1" u="sng" dirty="0">
                <a:solidFill>
                  <a:srgbClr val="FF0000"/>
                </a:solidFill>
              </a:rPr>
              <a:t>Agenda</a:t>
            </a:r>
            <a:endParaRPr b="1" u="sng" dirty="0">
              <a:solidFill>
                <a:srgbClr val="FF0000"/>
              </a:solidFill>
            </a:endParaRPr>
          </a:p>
        </p:txBody>
      </p:sp>
      <p:sp>
        <p:nvSpPr>
          <p:cNvPr id="111" name="Google Shape;111;p4"/>
          <p:cNvSpPr txBox="1">
            <a:spLocks noGrp="1"/>
          </p:cNvSpPr>
          <p:nvPr>
            <p:ph type="body" idx="1"/>
          </p:nvPr>
        </p:nvSpPr>
        <p:spPr>
          <a:xfrm>
            <a:off x="684880" y="1493134"/>
            <a:ext cx="10515600" cy="4777234"/>
          </a:xfrm>
          <a:prstGeom prst="rect">
            <a:avLst/>
          </a:prstGeom>
          <a:noFill/>
          <a:ln>
            <a:noFill/>
          </a:ln>
        </p:spPr>
        <p:txBody>
          <a:bodyPr spcFirstLastPara="1" wrap="square" lIns="91425" tIns="45700" rIns="91425" bIns="45700" anchor="t" anchorCtr="0">
            <a:normAutofit/>
          </a:bodyPr>
          <a:lstStyle/>
          <a:p>
            <a:pPr marL="457200" lvl="0" indent="-431800" algn="l" rtl="0">
              <a:lnSpc>
                <a:spcPct val="90000"/>
              </a:lnSpc>
              <a:spcBef>
                <a:spcPts val="1000"/>
              </a:spcBef>
              <a:spcAft>
                <a:spcPts val="0"/>
              </a:spcAft>
              <a:buSzPts val="2400"/>
              <a:buChar char="•"/>
            </a:pPr>
            <a:r>
              <a:rPr lang="en-IN" sz="2400" b="1" dirty="0"/>
              <a:t>Introduction</a:t>
            </a:r>
            <a:endParaRPr lang="en-IN" sz="2400" b="1" dirty="0"/>
          </a:p>
          <a:p>
            <a:pPr marL="457200" lvl="0" indent="-431800" algn="l" rtl="0">
              <a:lnSpc>
                <a:spcPct val="90000"/>
              </a:lnSpc>
              <a:spcBef>
                <a:spcPts val="1000"/>
              </a:spcBef>
              <a:spcAft>
                <a:spcPts val="0"/>
              </a:spcAft>
              <a:buSzPts val="2400"/>
              <a:buChar char="•"/>
            </a:pPr>
            <a:r>
              <a:rPr lang="en-IN" sz="2400" b="1" dirty="0"/>
              <a:t>Objective of the Project</a:t>
            </a:r>
            <a:endParaRPr lang="en-IN" sz="2400" b="1" dirty="0"/>
          </a:p>
          <a:p>
            <a:pPr marL="457200" lvl="0" indent="-431800" algn="l" rtl="0">
              <a:lnSpc>
                <a:spcPct val="90000"/>
              </a:lnSpc>
              <a:spcBef>
                <a:spcPts val="1000"/>
              </a:spcBef>
              <a:spcAft>
                <a:spcPts val="0"/>
              </a:spcAft>
              <a:buSzPts val="2400"/>
              <a:buChar char="•"/>
            </a:pPr>
            <a:r>
              <a:rPr lang="en-IN" sz="2400" b="1" dirty="0"/>
              <a:t>Problem Statement</a:t>
            </a:r>
            <a:endParaRPr lang="en-IN" sz="2400" b="1" dirty="0"/>
          </a:p>
          <a:p>
            <a:pPr marL="457200" lvl="0" indent="-431800" algn="l" rtl="0">
              <a:lnSpc>
                <a:spcPct val="90000"/>
              </a:lnSpc>
              <a:spcBef>
                <a:spcPts val="1000"/>
              </a:spcBef>
              <a:spcAft>
                <a:spcPts val="0"/>
              </a:spcAft>
              <a:buSzPts val="2400"/>
              <a:buChar char="•"/>
            </a:pPr>
            <a:r>
              <a:rPr lang="en-IN" sz="2400" b="1" dirty="0"/>
              <a:t>Concepts Used</a:t>
            </a:r>
            <a:endParaRPr lang="en-IN" sz="2400" b="1" dirty="0"/>
          </a:p>
          <a:p>
            <a:pPr lvl="0" indent="-431800">
              <a:buSzPts val="2400"/>
            </a:pPr>
            <a:r>
              <a:rPr lang="en-IN" sz="2400" b="1" dirty="0"/>
              <a:t>Working of the System</a:t>
            </a:r>
            <a:endParaRPr lang="en-IN" sz="2400" b="1" dirty="0"/>
          </a:p>
          <a:p>
            <a:pPr lvl="0" indent="-431800">
              <a:buSzPts val="2400"/>
            </a:pPr>
            <a:r>
              <a:rPr lang="en-US" sz="2400" b="1" dirty="0">
                <a:solidFill>
                  <a:schemeClr val="tx1"/>
                </a:solidFill>
              </a:rPr>
              <a:t>Execution of Code</a:t>
            </a:r>
            <a:endParaRPr lang="en-US" sz="2400" b="1" dirty="0">
              <a:solidFill>
                <a:schemeClr val="tx1"/>
              </a:solidFill>
            </a:endParaRPr>
          </a:p>
          <a:p>
            <a:pPr lvl="0" indent="-431800">
              <a:buSzPts val="2400"/>
            </a:pPr>
            <a:r>
              <a:rPr lang="en-IN" sz="2400" b="1" dirty="0"/>
              <a:t>Conclusion  </a:t>
            </a:r>
            <a:endParaRPr sz="2400" dirty="0"/>
          </a:p>
          <a:p>
            <a:pPr marL="457200" lvl="0" indent="-431800" algn="l" rtl="0">
              <a:lnSpc>
                <a:spcPct val="90000"/>
              </a:lnSpc>
              <a:spcBef>
                <a:spcPts val="1000"/>
              </a:spcBef>
              <a:spcAft>
                <a:spcPts val="0"/>
              </a:spcAft>
              <a:buSzPts val="2400"/>
              <a:buChar char="•"/>
            </a:pPr>
            <a:r>
              <a:rPr lang="en-IN" sz="2400" b="1" dirty="0"/>
              <a:t>Q&amp;A</a:t>
            </a: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10"/>
                                        </p:tgtEl>
                                        <p:attrNameLst>
                                          <p:attrName>style.visibility</p:attrName>
                                        </p:attrNameLst>
                                      </p:cBhvr>
                                      <p:to>
                                        <p:strVal val="visible"/>
                                      </p:to>
                                    </p:set>
                                    <p:animEffect transition="in" filter="barn(inVertical)">
                                      <p:cBhvr>
                                        <p:cTn id="7" dur="500"/>
                                        <p:tgtEl>
                                          <p:spTgt spid="11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11">
                                            <p:txEl>
                                              <p:pRg st="0" end="0"/>
                                            </p:txEl>
                                          </p:spTgt>
                                        </p:tgtEl>
                                        <p:attrNameLst>
                                          <p:attrName>style.visibility</p:attrName>
                                        </p:attrNameLst>
                                      </p:cBhvr>
                                      <p:to>
                                        <p:strVal val="visible"/>
                                      </p:to>
                                    </p:set>
                                    <p:animEffect transition="in" filter="fade">
                                      <p:cBhvr>
                                        <p:cTn id="12" dur="1000"/>
                                        <p:tgtEl>
                                          <p:spTgt spid="111">
                                            <p:txEl>
                                              <p:pRg st="0" end="0"/>
                                            </p:txEl>
                                          </p:spTgt>
                                        </p:tgtEl>
                                      </p:cBhvr>
                                    </p:animEffect>
                                    <p:anim calcmode="lin" valueType="num">
                                      <p:cBhvr>
                                        <p:cTn id="13" dur="1000" fill="hold"/>
                                        <p:tgtEl>
                                          <p:spTgt spid="111">
                                            <p:txEl>
                                              <p:pRg st="0" end="0"/>
                                            </p:txEl>
                                          </p:spTgt>
                                        </p:tgtEl>
                                        <p:attrNameLst>
                                          <p:attrName>ppt_x</p:attrName>
                                        </p:attrNameLst>
                                      </p:cBhvr>
                                      <p:tavLst>
                                        <p:tav tm="0">
                                          <p:val>
                                            <p:strVal val="#ppt_x"/>
                                          </p:val>
                                        </p:tav>
                                        <p:tav tm="100000">
                                          <p:val>
                                            <p:strVal val="#ppt_x"/>
                                          </p:val>
                                        </p:tav>
                                      </p:tavLst>
                                    </p:anim>
                                    <p:anim calcmode="lin" valueType="num">
                                      <p:cBhvr>
                                        <p:cTn id="14" dur="1000" fill="hold"/>
                                        <p:tgtEl>
                                          <p:spTgt spid="111">
                                            <p:txEl>
                                              <p:pRg st="0" end="0"/>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1">
                                            <p:txEl>
                                              <p:pRg st="1" end="1"/>
                                            </p:txEl>
                                          </p:spTgt>
                                        </p:tgtEl>
                                        <p:attrNameLst>
                                          <p:attrName>style.visibility</p:attrName>
                                        </p:attrNameLst>
                                      </p:cBhvr>
                                      <p:to>
                                        <p:strVal val="visible"/>
                                      </p:to>
                                    </p:set>
                                    <p:animEffect transition="in" filter="fade">
                                      <p:cBhvr>
                                        <p:cTn id="17" dur="1000"/>
                                        <p:tgtEl>
                                          <p:spTgt spid="111">
                                            <p:txEl>
                                              <p:pRg st="1" end="1"/>
                                            </p:txEl>
                                          </p:spTgt>
                                        </p:tgtEl>
                                      </p:cBhvr>
                                    </p:animEffect>
                                    <p:anim calcmode="lin" valueType="num">
                                      <p:cBhvr>
                                        <p:cTn id="18" dur="1000" fill="hold"/>
                                        <p:tgtEl>
                                          <p:spTgt spid="111">
                                            <p:txEl>
                                              <p:pRg st="1" end="1"/>
                                            </p:txEl>
                                          </p:spTgt>
                                        </p:tgtEl>
                                        <p:attrNameLst>
                                          <p:attrName>ppt_x</p:attrName>
                                        </p:attrNameLst>
                                      </p:cBhvr>
                                      <p:tavLst>
                                        <p:tav tm="0">
                                          <p:val>
                                            <p:strVal val="#ppt_x"/>
                                          </p:val>
                                        </p:tav>
                                        <p:tav tm="100000">
                                          <p:val>
                                            <p:strVal val="#ppt_x"/>
                                          </p:val>
                                        </p:tav>
                                      </p:tavLst>
                                    </p:anim>
                                    <p:anim calcmode="lin" valueType="num">
                                      <p:cBhvr>
                                        <p:cTn id="19" dur="1000" fill="hold"/>
                                        <p:tgtEl>
                                          <p:spTgt spid="111">
                                            <p:txEl>
                                              <p:pRg st="1" end="1"/>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1">
                                            <p:txEl>
                                              <p:pRg st="2" end="2"/>
                                            </p:txEl>
                                          </p:spTgt>
                                        </p:tgtEl>
                                        <p:attrNameLst>
                                          <p:attrName>style.visibility</p:attrName>
                                        </p:attrNameLst>
                                      </p:cBhvr>
                                      <p:to>
                                        <p:strVal val="visible"/>
                                      </p:to>
                                    </p:set>
                                    <p:animEffect transition="in" filter="fade">
                                      <p:cBhvr>
                                        <p:cTn id="22" dur="1000"/>
                                        <p:tgtEl>
                                          <p:spTgt spid="111">
                                            <p:txEl>
                                              <p:pRg st="2" end="2"/>
                                            </p:txEl>
                                          </p:spTgt>
                                        </p:tgtEl>
                                      </p:cBhvr>
                                    </p:animEffect>
                                    <p:anim calcmode="lin" valueType="num">
                                      <p:cBhvr>
                                        <p:cTn id="23" dur="1000" fill="hold"/>
                                        <p:tgtEl>
                                          <p:spTgt spid="111">
                                            <p:txEl>
                                              <p:pRg st="2" end="2"/>
                                            </p:txEl>
                                          </p:spTgt>
                                        </p:tgtEl>
                                        <p:attrNameLst>
                                          <p:attrName>ppt_x</p:attrName>
                                        </p:attrNameLst>
                                      </p:cBhvr>
                                      <p:tavLst>
                                        <p:tav tm="0">
                                          <p:val>
                                            <p:strVal val="#ppt_x"/>
                                          </p:val>
                                        </p:tav>
                                        <p:tav tm="100000">
                                          <p:val>
                                            <p:strVal val="#ppt_x"/>
                                          </p:val>
                                        </p:tav>
                                      </p:tavLst>
                                    </p:anim>
                                    <p:anim calcmode="lin" valueType="num">
                                      <p:cBhvr>
                                        <p:cTn id="24" dur="1000" fill="hold"/>
                                        <p:tgtEl>
                                          <p:spTgt spid="111">
                                            <p:txEl>
                                              <p:pRg st="2" end="2"/>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11">
                                            <p:txEl>
                                              <p:pRg st="3" end="3"/>
                                            </p:txEl>
                                          </p:spTgt>
                                        </p:tgtEl>
                                        <p:attrNameLst>
                                          <p:attrName>style.visibility</p:attrName>
                                        </p:attrNameLst>
                                      </p:cBhvr>
                                      <p:to>
                                        <p:strVal val="visible"/>
                                      </p:to>
                                    </p:set>
                                    <p:animEffect transition="in" filter="fade">
                                      <p:cBhvr>
                                        <p:cTn id="27" dur="1000"/>
                                        <p:tgtEl>
                                          <p:spTgt spid="111">
                                            <p:txEl>
                                              <p:pRg st="3" end="3"/>
                                            </p:txEl>
                                          </p:spTgt>
                                        </p:tgtEl>
                                      </p:cBhvr>
                                    </p:animEffect>
                                    <p:anim calcmode="lin" valueType="num">
                                      <p:cBhvr>
                                        <p:cTn id="28" dur="1000" fill="hold"/>
                                        <p:tgtEl>
                                          <p:spTgt spid="111">
                                            <p:txEl>
                                              <p:pRg st="3" end="3"/>
                                            </p:txEl>
                                          </p:spTgt>
                                        </p:tgtEl>
                                        <p:attrNameLst>
                                          <p:attrName>ppt_x</p:attrName>
                                        </p:attrNameLst>
                                      </p:cBhvr>
                                      <p:tavLst>
                                        <p:tav tm="0">
                                          <p:val>
                                            <p:strVal val="#ppt_x"/>
                                          </p:val>
                                        </p:tav>
                                        <p:tav tm="100000">
                                          <p:val>
                                            <p:strVal val="#ppt_x"/>
                                          </p:val>
                                        </p:tav>
                                      </p:tavLst>
                                    </p:anim>
                                    <p:anim calcmode="lin" valueType="num">
                                      <p:cBhvr>
                                        <p:cTn id="29" dur="1000" fill="hold"/>
                                        <p:tgtEl>
                                          <p:spTgt spid="111">
                                            <p:txEl>
                                              <p:pRg st="3" end="3"/>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11">
                                            <p:txEl>
                                              <p:pRg st="4" end="4"/>
                                            </p:txEl>
                                          </p:spTgt>
                                        </p:tgtEl>
                                        <p:attrNameLst>
                                          <p:attrName>style.visibility</p:attrName>
                                        </p:attrNameLst>
                                      </p:cBhvr>
                                      <p:to>
                                        <p:strVal val="visible"/>
                                      </p:to>
                                    </p:set>
                                    <p:animEffect transition="in" filter="fade">
                                      <p:cBhvr>
                                        <p:cTn id="32" dur="1000"/>
                                        <p:tgtEl>
                                          <p:spTgt spid="111">
                                            <p:txEl>
                                              <p:pRg st="4" end="4"/>
                                            </p:txEl>
                                          </p:spTgt>
                                        </p:tgtEl>
                                      </p:cBhvr>
                                    </p:animEffect>
                                    <p:anim calcmode="lin" valueType="num">
                                      <p:cBhvr>
                                        <p:cTn id="33" dur="1000" fill="hold"/>
                                        <p:tgtEl>
                                          <p:spTgt spid="111">
                                            <p:txEl>
                                              <p:pRg st="4" end="4"/>
                                            </p:txEl>
                                          </p:spTgt>
                                        </p:tgtEl>
                                        <p:attrNameLst>
                                          <p:attrName>ppt_x</p:attrName>
                                        </p:attrNameLst>
                                      </p:cBhvr>
                                      <p:tavLst>
                                        <p:tav tm="0">
                                          <p:val>
                                            <p:strVal val="#ppt_x"/>
                                          </p:val>
                                        </p:tav>
                                        <p:tav tm="100000">
                                          <p:val>
                                            <p:strVal val="#ppt_x"/>
                                          </p:val>
                                        </p:tav>
                                      </p:tavLst>
                                    </p:anim>
                                    <p:anim calcmode="lin" valueType="num">
                                      <p:cBhvr>
                                        <p:cTn id="34" dur="1000" fill="hold"/>
                                        <p:tgtEl>
                                          <p:spTgt spid="111">
                                            <p:txEl>
                                              <p:pRg st="4" end="4"/>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11">
                                            <p:txEl>
                                              <p:pRg st="5" end="5"/>
                                            </p:txEl>
                                          </p:spTgt>
                                        </p:tgtEl>
                                        <p:attrNameLst>
                                          <p:attrName>style.visibility</p:attrName>
                                        </p:attrNameLst>
                                      </p:cBhvr>
                                      <p:to>
                                        <p:strVal val="visible"/>
                                      </p:to>
                                    </p:set>
                                    <p:animEffect transition="in" filter="fade">
                                      <p:cBhvr>
                                        <p:cTn id="37" dur="1000"/>
                                        <p:tgtEl>
                                          <p:spTgt spid="111">
                                            <p:txEl>
                                              <p:pRg st="5" end="5"/>
                                            </p:txEl>
                                          </p:spTgt>
                                        </p:tgtEl>
                                      </p:cBhvr>
                                    </p:animEffect>
                                    <p:anim calcmode="lin" valueType="num">
                                      <p:cBhvr>
                                        <p:cTn id="38" dur="1000" fill="hold"/>
                                        <p:tgtEl>
                                          <p:spTgt spid="111">
                                            <p:txEl>
                                              <p:pRg st="5" end="5"/>
                                            </p:txEl>
                                          </p:spTgt>
                                        </p:tgtEl>
                                        <p:attrNameLst>
                                          <p:attrName>ppt_x</p:attrName>
                                        </p:attrNameLst>
                                      </p:cBhvr>
                                      <p:tavLst>
                                        <p:tav tm="0">
                                          <p:val>
                                            <p:strVal val="#ppt_x"/>
                                          </p:val>
                                        </p:tav>
                                        <p:tav tm="100000">
                                          <p:val>
                                            <p:strVal val="#ppt_x"/>
                                          </p:val>
                                        </p:tav>
                                      </p:tavLst>
                                    </p:anim>
                                    <p:anim calcmode="lin" valueType="num">
                                      <p:cBhvr>
                                        <p:cTn id="39" dur="1000" fill="hold"/>
                                        <p:tgtEl>
                                          <p:spTgt spid="111">
                                            <p:txEl>
                                              <p:pRg st="5" end="5"/>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11">
                                            <p:txEl>
                                              <p:pRg st="6" end="6"/>
                                            </p:txEl>
                                          </p:spTgt>
                                        </p:tgtEl>
                                        <p:attrNameLst>
                                          <p:attrName>style.visibility</p:attrName>
                                        </p:attrNameLst>
                                      </p:cBhvr>
                                      <p:to>
                                        <p:strVal val="visible"/>
                                      </p:to>
                                    </p:set>
                                    <p:animEffect transition="in" filter="fade">
                                      <p:cBhvr>
                                        <p:cTn id="42" dur="1000"/>
                                        <p:tgtEl>
                                          <p:spTgt spid="111">
                                            <p:txEl>
                                              <p:pRg st="6" end="6"/>
                                            </p:txEl>
                                          </p:spTgt>
                                        </p:tgtEl>
                                      </p:cBhvr>
                                    </p:animEffect>
                                    <p:anim calcmode="lin" valueType="num">
                                      <p:cBhvr>
                                        <p:cTn id="43" dur="1000" fill="hold"/>
                                        <p:tgtEl>
                                          <p:spTgt spid="111">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111">
                                            <p:txEl>
                                              <p:pRg st="6" end="6"/>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11">
                                            <p:txEl>
                                              <p:pRg st="7" end="7"/>
                                            </p:txEl>
                                          </p:spTgt>
                                        </p:tgtEl>
                                        <p:attrNameLst>
                                          <p:attrName>style.visibility</p:attrName>
                                        </p:attrNameLst>
                                      </p:cBhvr>
                                      <p:to>
                                        <p:strVal val="visible"/>
                                      </p:to>
                                    </p:set>
                                    <p:animEffect transition="in" filter="fade">
                                      <p:cBhvr>
                                        <p:cTn id="47" dur="1000"/>
                                        <p:tgtEl>
                                          <p:spTgt spid="111">
                                            <p:txEl>
                                              <p:pRg st="7" end="7"/>
                                            </p:txEl>
                                          </p:spTgt>
                                        </p:tgtEl>
                                      </p:cBhvr>
                                    </p:animEffect>
                                    <p:anim calcmode="lin" valueType="num">
                                      <p:cBhvr>
                                        <p:cTn id="48" dur="1000" fill="hold"/>
                                        <p:tgtEl>
                                          <p:spTgt spid="111">
                                            <p:txEl>
                                              <p:pRg st="7" end="7"/>
                                            </p:txEl>
                                          </p:spTgt>
                                        </p:tgtEl>
                                        <p:attrNameLst>
                                          <p:attrName>ppt_x</p:attrName>
                                        </p:attrNameLst>
                                      </p:cBhvr>
                                      <p:tavLst>
                                        <p:tav tm="0">
                                          <p:val>
                                            <p:strVal val="#ppt_x"/>
                                          </p:val>
                                        </p:tav>
                                        <p:tav tm="100000">
                                          <p:val>
                                            <p:strVal val="#ppt_x"/>
                                          </p:val>
                                        </p:tav>
                                      </p:tavLst>
                                    </p:anim>
                                    <p:anim calcmode="lin" valueType="num">
                                      <p:cBhvr>
                                        <p:cTn id="49" dur="1000" fill="hold"/>
                                        <p:tgtEl>
                                          <p:spTgt spid="111">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006475"/>
          </a:xfrm>
        </p:spPr>
        <p:txBody>
          <a:bodyPr/>
          <a:p>
            <a:r>
              <a:rPr lang="en-IN" altLang="en-US" b="1" u="sng">
                <a:solidFill>
                  <a:srgbClr val="FF0000"/>
                </a:solidFill>
                <a:latin typeface="Arial" panose="020B0604020202020204" pitchFamily="34" charset="0"/>
                <a:cs typeface="Arial" panose="020B0604020202020204" pitchFamily="34" charset="0"/>
              </a:rPr>
              <a:t>Business Problem</a:t>
            </a:r>
            <a:endParaRPr lang="en-IN" altLang="en-US" b="1" u="sng">
              <a:solidFill>
                <a:srgbClr val="FF0000"/>
              </a:solidFill>
              <a:latin typeface="Arial" panose="020B0604020202020204" pitchFamily="34" charset="0"/>
              <a:cs typeface="Arial" panose="020B0604020202020204" pitchFamily="34" charset="0"/>
            </a:endParaRPr>
          </a:p>
        </p:txBody>
      </p:sp>
      <p:sp>
        <p:nvSpPr>
          <p:cNvPr id="3" name="Text Placeholder 2"/>
          <p:cNvSpPr>
            <a:spLocks noGrp="1"/>
          </p:cNvSpPr>
          <p:nvPr>
            <p:ph type="body" idx="1"/>
          </p:nvPr>
        </p:nvSpPr>
        <p:spPr>
          <a:xfrm>
            <a:off x="838200" y="1302385"/>
            <a:ext cx="10515600" cy="5436235"/>
          </a:xfrm>
        </p:spPr>
        <p:txBody>
          <a:bodyPr>
            <a:noAutofit/>
          </a:bodyPr>
          <a:p>
            <a:pPr algn="just">
              <a:lnSpc>
                <a:spcPct val="150000"/>
              </a:lnSpc>
              <a:buFont typeface="Wingdings" panose="05000000000000000000" charset="0"/>
              <a:buChar char="Ø"/>
            </a:pPr>
            <a:r>
              <a:rPr lang="en-US" altLang="en-US" sz="2400">
                <a:latin typeface="Arial" panose="020B0604020202020204" pitchFamily="34" charset="0"/>
                <a:cs typeface="Arial" panose="020B0604020202020204" pitchFamily="34" charset="0"/>
              </a:rPr>
              <a:t>Many individuals, including students and working professionals, struggle with waking up on time due to ineffective traditional alarm systems.Conventional alarms can be easily snoozed or turned off, leading to oversleeping and reduced productivity.Oversleeping results in missed deadlines, late attendance, and decreased efficiency in academic and professional environments.Therefore, a solution is required that enforces user interaction and cognitive engagement to ensure proper wakefulness and improve productivity.</a:t>
            </a:r>
            <a:endParaRPr lang="en-US" altLang="en-US" sz="2400">
              <a:latin typeface="Arial" panose="020B0604020202020204" pitchFamily="34" charset="0"/>
              <a:cs typeface="Arial" panose="020B060402020202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86178" y="1351508"/>
            <a:ext cx="11504054" cy="5446395"/>
          </a:xfrm>
          <a:prstGeom prst="rect">
            <a:avLst/>
          </a:prstGeom>
          <a:noFill/>
        </p:spPr>
        <p:txBody>
          <a:bodyPr wrap="square">
            <a:spAutoFit/>
          </a:bodyPr>
          <a:lstStyle/>
          <a:p>
            <a:pPr marL="342900" indent="-342900">
              <a:lnSpc>
                <a:spcPct val="150000"/>
              </a:lnSpc>
              <a:buFont typeface="Wingdings" panose="05000000000000000000" charset="0"/>
              <a:buChar char="Ø"/>
            </a:pPr>
            <a:r>
              <a:rPr lang="en-US" altLang="en-US" sz="2400" dirty="0"/>
              <a:t>Solve 2 Silence is an innovative and interactive alarm system designed to improve user alertness and prevent oversleeping. Traditional alarm systems often fail to ensure wakefulness, as users can easily snooze or dismiss them without becoming fully active. </a:t>
            </a:r>
            <a:endParaRPr lang="en-US" altLang="en-US" sz="2400" dirty="0"/>
          </a:p>
          <a:p>
            <a:pPr marL="342900" indent="-342900">
              <a:lnSpc>
                <a:spcPct val="150000"/>
              </a:lnSpc>
              <a:buFont typeface="Wingdings" panose="05000000000000000000" charset="0"/>
              <a:buChar char="Ø"/>
            </a:pPr>
            <a:r>
              <a:rPr lang="en-US" altLang="en-US" sz="2400" dirty="0"/>
              <a:t>This project addresses that limitation by introducing a cognitive challenge that must be solved to deactivate the alarm.</a:t>
            </a:r>
            <a:endParaRPr lang="en-US" altLang="en-US" sz="2400" dirty="0"/>
          </a:p>
          <a:p>
            <a:pPr marL="342900" indent="-342900">
              <a:lnSpc>
                <a:spcPct val="150000"/>
              </a:lnSpc>
              <a:buFont typeface="Wingdings" panose="05000000000000000000" charset="0"/>
              <a:buChar char="Ø"/>
            </a:pPr>
            <a:r>
              <a:rPr lang="en-US" altLang="en-US" sz="2400" dirty="0"/>
              <a:t>Overall, Solve 2 Silence enhances productivity and encourages disciplined daily routines through an intelligent and interactive approach.</a:t>
            </a:r>
            <a:endParaRPr lang="en-US" altLang="en-US" sz="2400" dirty="0"/>
          </a:p>
          <a:p>
            <a:pPr marL="0" indent="0">
              <a:lnSpc>
                <a:spcPct val="150000"/>
              </a:lnSpc>
              <a:buFont typeface="Wingdings" panose="05000000000000000000" charset="0"/>
              <a:buNone/>
            </a:pPr>
            <a:endParaRPr lang="en-US" altLang="en-US" sz="2400" dirty="0"/>
          </a:p>
          <a:p>
            <a:pPr>
              <a:buNone/>
            </a:pPr>
            <a:endParaRPr lang="en-US" sz="2400" dirty="0"/>
          </a:p>
        </p:txBody>
      </p:sp>
      <p:sp>
        <p:nvSpPr>
          <p:cNvPr id="5" name="TextBox 4"/>
          <p:cNvSpPr txBox="1"/>
          <p:nvPr/>
        </p:nvSpPr>
        <p:spPr>
          <a:xfrm>
            <a:off x="486177" y="316190"/>
            <a:ext cx="6098146" cy="707886"/>
          </a:xfrm>
          <a:prstGeom prst="rect">
            <a:avLst/>
          </a:prstGeom>
          <a:noFill/>
        </p:spPr>
        <p:txBody>
          <a:bodyPr wrap="square">
            <a:spAutoFit/>
          </a:bodyPr>
          <a:lstStyle/>
          <a:p>
            <a:pPr>
              <a:buNone/>
            </a:pPr>
            <a:r>
              <a:rPr lang="en-US" sz="4000" b="1" u="sng" dirty="0">
                <a:solidFill>
                  <a:srgbClr val="FF0000"/>
                </a:solidFill>
                <a:latin typeface="Calibri" panose="020F0502020204030204" pitchFamily="34" charset="0"/>
                <a:ea typeface="Calibri" panose="020F0502020204030204" pitchFamily="34" charset="0"/>
                <a:cs typeface="Calibri" panose="020F0502020204030204" pitchFamily="34" charset="0"/>
              </a:rPr>
              <a:t>Introduction</a:t>
            </a:r>
            <a:endParaRPr lang="en-US" sz="4000" b="1" u="sng" dirty="0">
              <a:solidFill>
                <a:srgbClr val="FF0000"/>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89660"/>
          </a:xfrm>
        </p:spPr>
        <p:txBody>
          <a:bodyPr/>
          <a:lstStyle/>
          <a:p>
            <a:r>
              <a:rPr lang="en-US" b="1" u="sng" dirty="0">
                <a:solidFill>
                  <a:srgbClr val="FF0000"/>
                </a:solidFill>
              </a:rPr>
              <a:t>Objective</a:t>
            </a:r>
            <a:endParaRPr lang="en-IN" b="1" u="sng" dirty="0">
              <a:solidFill>
                <a:srgbClr val="FF0000"/>
              </a:solidFill>
            </a:endParaRPr>
          </a:p>
        </p:txBody>
      </p:sp>
      <p:sp>
        <p:nvSpPr>
          <p:cNvPr id="4" name="TextBox 3"/>
          <p:cNvSpPr txBox="1"/>
          <p:nvPr/>
        </p:nvSpPr>
        <p:spPr>
          <a:xfrm>
            <a:off x="656590" y="1358900"/>
            <a:ext cx="11423650" cy="4619625"/>
          </a:xfrm>
          <a:prstGeom prst="rect">
            <a:avLst/>
          </a:prstGeom>
          <a:noFill/>
        </p:spPr>
        <p:txBody>
          <a:bodyPr wrap="square">
            <a:noAutofit/>
          </a:bodyPr>
          <a:lstStyle/>
          <a:p>
            <a:pPr marL="342900" indent="-342900">
              <a:lnSpc>
                <a:spcPct val="150000"/>
              </a:lnSpc>
              <a:buFont typeface="Wingdings" panose="05000000000000000000" charset="0"/>
              <a:buChar char="Ø"/>
            </a:pPr>
            <a:r>
              <a:rPr lang="en-US" altLang="en-US" sz="2400" dirty="0"/>
              <a:t>The primary objective of Solve 2 Silence is to develop an intelligent and interactive alarm system that enhances user alertness by requiring a problem-solving task to deactivate the alarm.</a:t>
            </a:r>
            <a:endParaRPr lang="en-US" altLang="en-US" sz="2400" dirty="0"/>
          </a:p>
          <a:p>
            <a:pPr marL="342900" indent="-342900">
              <a:lnSpc>
                <a:spcPct val="150000"/>
              </a:lnSpc>
              <a:buFont typeface="Wingdings" panose="05000000000000000000" charset="0"/>
              <a:buChar char="Ø"/>
            </a:pPr>
            <a:r>
              <a:rPr lang="en-US" altLang="en-US" sz="2400" dirty="0"/>
              <a:t>Additionally, the project aims to demonstrate the practical implementation of core programming concepts such as time-based operations, control structures, exception handling, and random number generation in a real-time environment.</a:t>
            </a:r>
            <a:endParaRPr lang="en-US" altLang="en-US" sz="2400" dirty="0"/>
          </a:p>
          <a:p>
            <a:pPr marL="342900" indent="-342900">
              <a:lnSpc>
                <a:spcPct val="150000"/>
              </a:lnSpc>
              <a:buFont typeface="Wingdings" panose="05000000000000000000" charset="0"/>
              <a:buChar char="Ø"/>
            </a:pPr>
            <a:r>
              <a:rPr lang="en-US" altLang="en-US" sz="2400" dirty="0"/>
              <a:t> The system is designed to promote discipline, improve productivity, and provide a simple yet effective solution to everyday time management challenges.</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 calcmode="lin" valueType="num">
                                      <p:cBhvr additive="base">
                                        <p:cTn id="12" dur="500" fill="hold"/>
                                        <p:tgtEl>
                                          <p:spTgt spid="4">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nodeType="clickEffect">
                                  <p:stCondLst>
                                    <p:cond delay="0"/>
                                  </p:stCondLst>
                                  <p:childTnLst>
                                    <p:set>
                                      <p:cBhvr>
                                        <p:cTn id="17" dur="1" fill="hold">
                                          <p:stCondLst>
                                            <p:cond delay="0"/>
                                          </p:stCondLst>
                                        </p:cTn>
                                        <p:tgtEl>
                                          <p:spTgt spid="4">
                                            <p:txEl>
                                              <p:pRg st="1" end="1"/>
                                            </p:txEl>
                                          </p:spTgt>
                                        </p:tgtEl>
                                        <p:attrNameLst>
                                          <p:attrName>style.visibility</p:attrName>
                                        </p:attrNameLst>
                                      </p:cBhvr>
                                      <p:to>
                                        <p:strVal val="visible"/>
                                      </p:to>
                                    </p:set>
                                    <p:anim calcmode="lin" valueType="num">
                                      <p:cBhvr additive="base">
                                        <p:cTn id="18" dur="500" fill="hold"/>
                                        <p:tgtEl>
                                          <p:spTgt spid="4">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nodeType="clickEffect">
                                  <p:stCondLst>
                                    <p:cond delay="0"/>
                                  </p:stCondLst>
                                  <p:childTnLst>
                                    <p:set>
                                      <p:cBhvr>
                                        <p:cTn id="23" dur="1" fill="hold">
                                          <p:stCondLst>
                                            <p:cond delay="0"/>
                                          </p:stCondLst>
                                        </p:cTn>
                                        <p:tgtEl>
                                          <p:spTgt spid="4">
                                            <p:txEl>
                                              <p:pRg st="2" end="2"/>
                                            </p:txEl>
                                          </p:spTgt>
                                        </p:tgtEl>
                                        <p:attrNameLst>
                                          <p:attrName>style.visibility</p:attrName>
                                        </p:attrNameLst>
                                      </p:cBhvr>
                                      <p:to>
                                        <p:strVal val="visible"/>
                                      </p:to>
                                    </p:set>
                                    <p:anim calcmode="lin" valueType="num">
                                      <p:cBhvr additive="base">
                                        <p:cTn id="24" dur="500" fill="hold"/>
                                        <p:tgtEl>
                                          <p:spTgt spid="4">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189990"/>
          </a:xfrm>
        </p:spPr>
        <p:txBody>
          <a:bodyPr/>
          <a:lstStyle/>
          <a:p>
            <a:r>
              <a:rPr lang="en-US" b="1" u="sng" dirty="0">
                <a:solidFill>
                  <a:srgbClr val="FF0000"/>
                </a:solidFill>
              </a:rPr>
              <a:t>Problem Statement</a:t>
            </a:r>
            <a:endParaRPr lang="en-IN" u="sng" dirty="0">
              <a:solidFill>
                <a:srgbClr val="FF0000"/>
              </a:solidFill>
            </a:endParaRPr>
          </a:p>
        </p:txBody>
      </p:sp>
      <p:sp>
        <p:nvSpPr>
          <p:cNvPr id="4" name="TextBox 3"/>
          <p:cNvSpPr txBox="1"/>
          <p:nvPr/>
        </p:nvSpPr>
        <p:spPr>
          <a:xfrm>
            <a:off x="838200" y="1555750"/>
            <a:ext cx="10778490" cy="5212715"/>
          </a:xfrm>
          <a:prstGeom prst="rect">
            <a:avLst/>
          </a:prstGeom>
          <a:noFill/>
        </p:spPr>
        <p:txBody>
          <a:bodyPr wrap="square">
            <a:noAutofit/>
          </a:bodyPr>
          <a:lstStyle/>
          <a:p>
            <a:pPr marL="342900" indent="-342900">
              <a:lnSpc>
                <a:spcPct val="150000"/>
              </a:lnSpc>
              <a:buFont typeface="Wingdings" panose="05000000000000000000" charset="0"/>
              <a:buChar char="Ø"/>
            </a:pPr>
            <a:r>
              <a:rPr lang="en-US" altLang="en-US" sz="2400" dirty="0"/>
              <a:t>In today’s fast-paced lifestyle, many individuals struggle to wake up on time due to the inefficiency of traditional alarm systems. Conventional alarms can be easily snoozed or turned off without requiring any active engagement, which often leads to oversleeping, reduced productivity, and poor time management.</a:t>
            </a:r>
            <a:endParaRPr lang="en-US" altLang="en-US" sz="2400" dirty="0"/>
          </a:p>
          <a:p>
            <a:pPr marL="342900" indent="-342900">
              <a:lnSpc>
                <a:spcPct val="150000"/>
              </a:lnSpc>
              <a:buFont typeface="Wingdings" panose="05000000000000000000" charset="0"/>
              <a:buChar char="Ø"/>
            </a:pPr>
            <a:r>
              <a:rPr lang="en-US" altLang="en-US" sz="2400" dirty="0"/>
              <a:t>Therefore, the problem addressed in this project is to design and develop a smart alarm system that prevents passive dismissal by requiring the user to actively engage in a simple problem-solving task, ensuring mental alertness and promoting a disciplined daily routine.</a:t>
            </a: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094105"/>
          </a:xfrm>
        </p:spPr>
        <p:txBody>
          <a:bodyPr/>
          <a:lstStyle/>
          <a:p>
            <a:r>
              <a:rPr lang="en-IN" b="1" u="sng" dirty="0">
                <a:solidFill>
                  <a:srgbClr val="FF0000"/>
                </a:solidFill>
              </a:rPr>
              <a:t>Concepts Used</a:t>
            </a:r>
            <a:endParaRPr lang="en-IN" b="1" u="sng" dirty="0">
              <a:solidFill>
                <a:srgbClr val="FF0000"/>
              </a:solidFill>
            </a:endParaRPr>
          </a:p>
        </p:txBody>
      </p:sp>
      <p:sp>
        <p:nvSpPr>
          <p:cNvPr id="4" name="TextBox 3"/>
          <p:cNvSpPr txBox="1"/>
          <p:nvPr/>
        </p:nvSpPr>
        <p:spPr>
          <a:xfrm>
            <a:off x="838200" y="1400810"/>
            <a:ext cx="11151870" cy="4649470"/>
          </a:xfrm>
          <a:prstGeom prst="rect">
            <a:avLst/>
          </a:prstGeom>
          <a:noFill/>
        </p:spPr>
        <p:txBody>
          <a:bodyPr wrap="square">
            <a:noAutofit/>
          </a:bodyPr>
          <a:lstStyle/>
          <a:p>
            <a:pPr marL="457200" indent="-457200" algn="just">
              <a:lnSpc>
                <a:spcPct val="150000"/>
              </a:lnSpc>
              <a:buAutoNum type="arabicPeriod"/>
            </a:pPr>
            <a:r>
              <a:rPr lang="en-IN" altLang="en-US" sz="2400" b="1" dirty="0"/>
              <a:t>Modules Used</a:t>
            </a:r>
            <a:r>
              <a:rPr lang="en-IN" altLang="en-US" sz="2400" dirty="0"/>
              <a:t>:time,random,winsound</a:t>
            </a:r>
            <a:r>
              <a:rPr lang="en-US" sz="2400" dirty="0"/>
              <a:t> </a:t>
            </a:r>
            <a:endParaRPr lang="en-US" sz="2400" dirty="0"/>
          </a:p>
          <a:p>
            <a:pPr marL="342900" indent="-342900" algn="just">
              <a:lnSpc>
                <a:spcPct val="150000"/>
              </a:lnSpc>
              <a:buFont typeface="Arial" panose="020B0604020202020204" pitchFamily="34" charset="0"/>
              <a:buChar char="•"/>
            </a:pPr>
            <a:r>
              <a:rPr lang="en-IN" altLang="en-US" sz="2000" b="1" dirty="0"/>
              <a:t>time module:</a:t>
            </a:r>
            <a:r>
              <a:rPr lang="en-US" altLang="en-US" sz="2000" dirty="0"/>
              <a:t>Uses the time module to fetch and monitor the current system time</a:t>
            </a:r>
            <a:r>
              <a:rPr lang="en-IN" altLang="en-US" sz="2000" dirty="0"/>
              <a:t>.</a:t>
            </a:r>
            <a:r>
              <a:rPr lang="en-US" altLang="en-US" sz="2000" dirty="0"/>
              <a:t>Compares current time with the user-defined alarm time</a:t>
            </a:r>
            <a:r>
              <a:rPr lang="en-IN" altLang="en-US" sz="2000" dirty="0"/>
              <a:t>.</a:t>
            </a:r>
            <a:endParaRPr lang="en-IN" altLang="en-US" sz="2000" dirty="0"/>
          </a:p>
          <a:p>
            <a:pPr marL="342900" indent="-342900" algn="just">
              <a:lnSpc>
                <a:spcPct val="150000"/>
              </a:lnSpc>
              <a:buFont typeface="Arial" panose="020B0604020202020204" pitchFamily="34" charset="0"/>
              <a:buChar char="•"/>
            </a:pPr>
            <a:r>
              <a:rPr lang="en-IN" altLang="en-US" sz="2000" b="1" dirty="0"/>
              <a:t>random module:</a:t>
            </a:r>
            <a:r>
              <a:rPr lang="en-US" altLang="en-US" sz="2000" dirty="0"/>
              <a:t>Uses the random module to generate dynamic math problems</a:t>
            </a:r>
            <a:r>
              <a:rPr lang="en-IN" altLang="en-US" sz="2000" dirty="0"/>
              <a:t>.</a:t>
            </a:r>
            <a:endParaRPr lang="en-IN" altLang="en-US" sz="2000" dirty="0"/>
          </a:p>
          <a:p>
            <a:pPr marL="342900" indent="-342900" algn="just">
              <a:lnSpc>
                <a:spcPct val="150000"/>
              </a:lnSpc>
              <a:buFont typeface="Arial" panose="020B0604020202020204" pitchFamily="34" charset="0"/>
              <a:buChar char="•"/>
            </a:pPr>
            <a:r>
              <a:rPr lang="en-IN" altLang="en-US" sz="2000" b="1" dirty="0"/>
              <a:t>winsound module:</a:t>
            </a:r>
            <a:r>
              <a:rPr lang="en-US" altLang="en-US" sz="2000" dirty="0"/>
              <a:t>Uses winsound (Windows) or playsound to play alarm audio</a:t>
            </a:r>
            <a:r>
              <a:rPr lang="en-IN" altLang="en-US" sz="2000" dirty="0"/>
              <a:t>.</a:t>
            </a:r>
            <a:r>
              <a:rPr lang="en-US" altLang="en-US" sz="2000" dirty="0"/>
              <a:t>Implements looping sound until the correct answer is provided</a:t>
            </a:r>
            <a:r>
              <a:rPr lang="en-IN" altLang="en-US" sz="2000" dirty="0"/>
              <a:t>.</a:t>
            </a:r>
            <a:endParaRPr lang="en-IN" altLang="en-US" sz="2000" dirty="0"/>
          </a:p>
          <a:p>
            <a:pPr marL="0" indent="0" algn="just">
              <a:lnSpc>
                <a:spcPct val="150000"/>
              </a:lnSpc>
              <a:buFont typeface="+mj-lt"/>
              <a:buNone/>
            </a:pPr>
            <a:r>
              <a:rPr lang="en-IN" altLang="en-US" sz="2400" b="1" dirty="0"/>
              <a:t>2.   </a:t>
            </a:r>
            <a:r>
              <a:rPr lang="en-US" altLang="en-US" sz="2400" b="1" dirty="0"/>
              <a:t>Loops (while)</a:t>
            </a:r>
            <a:r>
              <a:rPr lang="en-IN" altLang="en-US" sz="2400" b="1" dirty="0"/>
              <a:t>:</a:t>
            </a:r>
            <a:r>
              <a:rPr lang="en-US" altLang="en-US" sz="2400" dirty="0"/>
              <a:t> </a:t>
            </a:r>
            <a:r>
              <a:rPr lang="en-IN" altLang="en-US" sz="2400" dirty="0"/>
              <a:t>F</a:t>
            </a:r>
            <a:r>
              <a:rPr lang="en-US" altLang="en-US" sz="2400" dirty="0"/>
              <a:t>or continuous time checking and repeated user input</a:t>
            </a:r>
            <a:r>
              <a:rPr lang="en-IN" altLang="en-US" sz="2400" dirty="0"/>
              <a:t>.</a:t>
            </a:r>
            <a:endParaRPr lang="en-IN" altLang="en-US" sz="2400" dirty="0"/>
          </a:p>
          <a:p>
            <a:pPr marL="0" indent="0" algn="just">
              <a:lnSpc>
                <a:spcPct val="150000"/>
              </a:lnSpc>
              <a:buFont typeface="+mj-lt"/>
              <a:buNone/>
            </a:pPr>
            <a:r>
              <a:rPr lang="en-IN" altLang="en-US" sz="2400" b="1" dirty="0"/>
              <a:t>3.</a:t>
            </a:r>
            <a:r>
              <a:rPr lang="en-IN" altLang="en-US" sz="2400" dirty="0"/>
              <a:t>   </a:t>
            </a:r>
            <a:r>
              <a:rPr lang="en-IN" altLang="en-US" sz="2400" b="1" dirty="0"/>
              <a:t>Conditional Statments (if-else):</a:t>
            </a:r>
            <a:r>
              <a:rPr lang="en-IN" altLang="en-US" sz="2400" dirty="0"/>
              <a:t>T</a:t>
            </a:r>
            <a:r>
              <a:rPr lang="en-US" altLang="en-US" sz="2400" dirty="0"/>
              <a:t>o trigger the alarm and validate answers</a:t>
            </a:r>
            <a:r>
              <a:rPr lang="en-IN" altLang="en-US" sz="2400" dirty="0"/>
              <a:t>.</a:t>
            </a:r>
            <a:endParaRPr lang="en-IN" altLang="en-US" sz="2400" dirty="0"/>
          </a:p>
          <a:p>
            <a:pPr marL="0" indent="0" algn="just">
              <a:lnSpc>
                <a:spcPct val="150000"/>
              </a:lnSpc>
              <a:buFont typeface="+mj-lt"/>
              <a:buNone/>
            </a:pPr>
            <a:endParaRPr lang="en-US" altLang="en-US"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365125"/>
            <a:ext cx="10515600" cy="1141730"/>
          </a:xfrm>
        </p:spPr>
        <p:txBody>
          <a:bodyPr/>
          <a:p>
            <a:r>
              <a:rPr lang="en-IN" altLang="en-US" b="1" u="sng">
                <a:solidFill>
                  <a:srgbClr val="FF0000"/>
                </a:solidFill>
                <a:latin typeface="Calibri" panose="020F0502020204030204" pitchFamily="34" charset="0"/>
                <a:cs typeface="Calibri" panose="020F0502020204030204" pitchFamily="34" charset="0"/>
              </a:rPr>
              <a:t>Concepts Used (contd.)</a:t>
            </a:r>
            <a:endParaRPr lang="en-IN" altLang="en-US" b="1" u="sng">
              <a:solidFill>
                <a:srgbClr val="FF0000"/>
              </a:solidFill>
              <a:latin typeface="Calibri" panose="020F0502020204030204" pitchFamily="34" charset="0"/>
              <a:cs typeface="Calibri" panose="020F0502020204030204" pitchFamily="34" charset="0"/>
            </a:endParaRPr>
          </a:p>
        </p:txBody>
      </p:sp>
      <p:sp>
        <p:nvSpPr>
          <p:cNvPr id="3" name="Text Box 2"/>
          <p:cNvSpPr txBox="1"/>
          <p:nvPr/>
        </p:nvSpPr>
        <p:spPr>
          <a:xfrm>
            <a:off x="551180" y="1691005"/>
            <a:ext cx="10721975" cy="4422775"/>
          </a:xfrm>
          <a:prstGeom prst="rect">
            <a:avLst/>
          </a:prstGeom>
          <a:noFill/>
        </p:spPr>
        <p:txBody>
          <a:bodyPr wrap="square" rtlCol="0">
            <a:noAutofit/>
          </a:bodyPr>
          <a:p>
            <a:pPr marL="457200" indent="-457200">
              <a:lnSpc>
                <a:spcPct val="150000"/>
              </a:lnSpc>
              <a:buFont typeface="+mj-lt"/>
              <a:buAutoNum type="arabicPeriod" startAt="4"/>
            </a:pPr>
            <a:r>
              <a:rPr lang="en-US" altLang="en-US" sz="2400" b="1" dirty="0">
                <a:sym typeface="+mn-ea"/>
              </a:rPr>
              <a:t>Exception Handling</a:t>
            </a:r>
            <a:r>
              <a:rPr lang="en-IN" altLang="en-US" sz="2400" b="1" dirty="0">
                <a:sym typeface="+mn-ea"/>
              </a:rPr>
              <a:t>:</a:t>
            </a:r>
            <a:r>
              <a:rPr lang="en-US" altLang="en-US" sz="2400" dirty="0">
                <a:sym typeface="+mn-ea"/>
              </a:rPr>
              <a:t>Implements try-except to handle invalid inputs (e.g., non-numeric values)</a:t>
            </a:r>
            <a:r>
              <a:rPr lang="en-IN" altLang="en-US" sz="2400" dirty="0">
                <a:sym typeface="+mn-ea"/>
              </a:rPr>
              <a:t>.</a:t>
            </a:r>
            <a:r>
              <a:rPr lang="en-US" altLang="en-US" sz="2400" dirty="0">
                <a:sym typeface="+mn-ea"/>
              </a:rPr>
              <a:t>Prevents program crashes and improves user experience</a:t>
            </a:r>
            <a:r>
              <a:rPr lang="en-IN" altLang="en-US" sz="2400" dirty="0">
                <a:sym typeface="+mn-ea"/>
              </a:rPr>
              <a:t>.</a:t>
            </a:r>
            <a:endParaRPr lang="en-IN" altLang="en-US" sz="2400" dirty="0">
              <a:sym typeface="+mn-ea"/>
            </a:endParaRPr>
          </a:p>
          <a:p>
            <a:pPr marL="457200" indent="-457200">
              <a:lnSpc>
                <a:spcPct val="150000"/>
              </a:lnSpc>
              <a:buFont typeface="+mj-lt"/>
              <a:buAutoNum type="arabicPeriod" startAt="4"/>
            </a:pPr>
            <a:r>
              <a:rPr lang="en-US" altLang="en-US" sz="2400" b="1" dirty="0"/>
              <a:t>User Input Handling</a:t>
            </a:r>
            <a:r>
              <a:rPr lang="en-IN" altLang="en-US" sz="2400" b="1" dirty="0"/>
              <a:t>:</a:t>
            </a:r>
            <a:r>
              <a:rPr lang="en-US" altLang="en-US" sz="2400" dirty="0"/>
              <a:t>Uses input() function to accept alarm time and answers from the user</a:t>
            </a:r>
            <a:r>
              <a:rPr lang="en-IN" altLang="en-US" sz="2400" dirty="0"/>
              <a:t>.</a:t>
            </a:r>
            <a:r>
              <a:rPr lang="en-US" altLang="en-US" sz="2400" dirty="0"/>
              <a:t>Converts input into appropriate data types</a:t>
            </a:r>
            <a:r>
              <a:rPr lang="en-IN" altLang="en-US" sz="2400" dirty="0"/>
              <a:t>.</a:t>
            </a:r>
            <a:endParaRPr lang="en-IN" altLang="en-US" sz="2400" dirty="0"/>
          </a:p>
          <a:p>
            <a:pPr marL="0" indent="0">
              <a:lnSpc>
                <a:spcPct val="150000"/>
              </a:lnSpc>
              <a:buFont typeface="+mj-lt"/>
              <a:buNone/>
            </a:pPr>
            <a:endParaRPr lang="en-US" altLang="en-US" sz="2400" dirty="0"/>
          </a:p>
          <a:p>
            <a:pPr marL="457200" indent="-457200">
              <a:buFont typeface="+mj-lt"/>
              <a:buAutoNum type="arabicPeriod" startAt="4"/>
            </a:pPr>
            <a:endParaRPr lang="en-US" sz="2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a:solidFill>
                  <a:srgbClr val="FF0000"/>
                </a:solidFill>
              </a:rPr>
              <a:t>Working of the Program</a:t>
            </a:r>
            <a:endParaRPr lang="en-IN" b="1" u="sng" dirty="0">
              <a:solidFill>
                <a:srgbClr val="FF0000"/>
              </a:solidFill>
            </a:endParaRPr>
          </a:p>
        </p:txBody>
      </p:sp>
      <p:sp>
        <p:nvSpPr>
          <p:cNvPr id="3" name="Rectangle 1"/>
          <p:cNvSpPr>
            <a:spLocks noChangeArrowheads="1"/>
          </p:cNvSpPr>
          <p:nvPr/>
        </p:nvSpPr>
        <p:spPr bwMode="auto">
          <a:xfrm>
            <a:off x="838200" y="1918970"/>
            <a:ext cx="11017885" cy="4022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None/>
            </a:pPr>
            <a:endParaRPr kumimoji="0" lang="en-US" altLang="en-US" sz="2400" i="0" u="none" strike="noStrike" cap="none" normalizeH="0" baseline="0" dirty="0">
              <a:ln>
                <a:noFill/>
              </a:ln>
              <a:solidFill>
                <a:schemeClr val="tx1"/>
              </a:solidFill>
              <a:effectLst/>
              <a:latin typeface="+mn-lt"/>
            </a:endParaRP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charset="0"/>
              <a:buChar char="Ø"/>
            </a:pPr>
            <a:endParaRPr kumimoji="0" lang="en-US" altLang="en-US" sz="2400" i="0" u="none" strike="noStrike" cap="none" normalizeH="0" baseline="0" dirty="0">
              <a:ln>
                <a:noFill/>
              </a:ln>
              <a:solidFill>
                <a:schemeClr val="tx1"/>
              </a:solidFill>
              <a:effectLst/>
              <a:latin typeface="+mn-lt"/>
            </a:endParaRPr>
          </a:p>
        </p:txBody>
      </p:sp>
      <p:sp>
        <p:nvSpPr>
          <p:cNvPr id="4" name="Text Box 3"/>
          <p:cNvSpPr txBox="1"/>
          <p:nvPr/>
        </p:nvSpPr>
        <p:spPr>
          <a:xfrm>
            <a:off x="968375" y="1767205"/>
            <a:ext cx="8719185" cy="4415790"/>
          </a:xfrm>
          <a:prstGeom prst="rect">
            <a:avLst/>
          </a:prstGeom>
          <a:noFill/>
        </p:spPr>
        <p:txBody>
          <a:bodyPr wrap="square" rtlCol="0">
            <a:noAutofit/>
          </a:bodyPr>
          <a:p>
            <a:pPr marL="342900" indent="-342900" algn="just">
              <a:lnSpc>
                <a:spcPct val="150000"/>
              </a:lnSpc>
              <a:buFont typeface="Wingdings" panose="05000000000000000000" charset="0"/>
              <a:buChar char="Ø"/>
            </a:pPr>
            <a:r>
              <a:rPr lang="en-US" altLang="en-US" sz="2400"/>
              <a:t>The user enters the alarm time in HH:MM format (24-hour format).</a:t>
            </a:r>
            <a:endParaRPr lang="en-US" altLang="en-US" sz="2400"/>
          </a:p>
          <a:p>
            <a:pPr marL="342900" indent="-342900" algn="just">
              <a:lnSpc>
                <a:spcPct val="150000"/>
              </a:lnSpc>
              <a:buFont typeface="Wingdings" panose="05000000000000000000" charset="0"/>
              <a:buChar char="Ø"/>
            </a:pPr>
            <a:r>
              <a:rPr lang="en-US" altLang="en-US" sz="2400"/>
              <a:t>The program stores the entered time and starts execution.</a:t>
            </a:r>
            <a:endParaRPr lang="en-US" altLang="en-US" sz="2400"/>
          </a:p>
          <a:p>
            <a:pPr marL="342900" indent="-342900" algn="just">
              <a:lnSpc>
                <a:spcPct val="150000"/>
              </a:lnSpc>
              <a:buFont typeface="Wingdings" panose="05000000000000000000" charset="0"/>
              <a:buChar char="Ø"/>
            </a:pPr>
            <a:r>
              <a:rPr lang="en-US" altLang="en-US" sz="2400"/>
              <a:t>It continuously checks the current system time using the time module.</a:t>
            </a:r>
            <a:endParaRPr lang="en-US" altLang="en-US" sz="2400"/>
          </a:p>
          <a:p>
            <a:pPr marL="342900" indent="-342900" algn="just">
              <a:lnSpc>
                <a:spcPct val="150000"/>
              </a:lnSpc>
              <a:buFont typeface="Wingdings" panose="05000000000000000000" charset="0"/>
              <a:buChar char="Ø"/>
            </a:pPr>
            <a:r>
              <a:rPr lang="en-US" altLang="en-US" sz="2400"/>
              <a:t>The current time is compared with the user-set alarm time at regular intervals.</a:t>
            </a:r>
            <a:endParaRPr lang="en-US" altLang="en-US" sz="2400"/>
          </a:p>
          <a:p>
            <a:pPr marL="342900" indent="-342900" algn="just">
              <a:lnSpc>
                <a:spcPct val="150000"/>
              </a:lnSpc>
              <a:buFont typeface="Wingdings" panose="05000000000000000000" charset="0"/>
              <a:buChar char="Ø"/>
            </a:pPr>
            <a:r>
              <a:rPr lang="en-US" altLang="en-US" sz="2400"/>
              <a:t>When both times match, the alarm is triggered.</a:t>
            </a:r>
            <a:endParaRPr 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solidFill>
                  <a:srgbClr val="FF0000"/>
                </a:solidFill>
              </a:rPr>
              <a:t>Working of the Program(contd.)</a:t>
            </a:r>
            <a:endParaRPr lang="en-IN" altLang="en-US" b="1">
              <a:solidFill>
                <a:srgbClr val="FF0000"/>
              </a:solidFill>
            </a:endParaRPr>
          </a:p>
        </p:txBody>
      </p:sp>
      <p:sp>
        <p:nvSpPr>
          <p:cNvPr id="3" name="Text Box 2"/>
          <p:cNvSpPr txBox="1"/>
          <p:nvPr/>
        </p:nvSpPr>
        <p:spPr>
          <a:xfrm>
            <a:off x="1054100" y="1737995"/>
            <a:ext cx="9740265" cy="3969385"/>
          </a:xfrm>
          <a:prstGeom prst="rect">
            <a:avLst/>
          </a:prstGeom>
          <a:noFill/>
        </p:spPr>
        <p:txBody>
          <a:bodyPr wrap="square" rtlCol="0">
            <a:spAutoFit/>
          </a:bodyPr>
          <a:p>
            <a:pPr marL="285750" indent="-285750" algn="just">
              <a:lnSpc>
                <a:spcPct val="150000"/>
              </a:lnSpc>
              <a:buFont typeface="Wingdings" panose="05000000000000000000" charset="0"/>
              <a:buChar char="Ø"/>
            </a:pPr>
            <a:r>
              <a:rPr lang="en-US" altLang="en-US" sz="2400"/>
              <a:t>A sound is played continuously in the background using the </a:t>
            </a:r>
            <a:r>
              <a:rPr lang="en-IN" altLang="en-US" sz="2400"/>
              <a:t>win</a:t>
            </a:r>
            <a:r>
              <a:rPr lang="en-US" altLang="en-US" sz="2400"/>
              <a:t>sound module.</a:t>
            </a:r>
            <a:endParaRPr lang="en-US" altLang="en-US" sz="2400"/>
          </a:p>
          <a:p>
            <a:pPr marL="285750" indent="-285750" algn="just">
              <a:lnSpc>
                <a:spcPct val="150000"/>
              </a:lnSpc>
              <a:buFont typeface="Wingdings" panose="05000000000000000000" charset="0"/>
              <a:buChar char="Ø"/>
            </a:pPr>
            <a:r>
              <a:rPr lang="en-US" altLang="en-US" sz="2400"/>
              <a:t>Two random numbers are generated to create a simple math problem</a:t>
            </a:r>
            <a:r>
              <a:rPr lang="en-IN" altLang="en-US" sz="2400"/>
              <a:t> using random module</a:t>
            </a:r>
            <a:r>
              <a:rPr lang="en-US" altLang="en-US" sz="2400"/>
              <a:t>.</a:t>
            </a:r>
            <a:endParaRPr lang="en-US" altLang="en-US" sz="2400"/>
          </a:p>
          <a:p>
            <a:pPr marL="285750" indent="-285750" algn="just">
              <a:lnSpc>
                <a:spcPct val="150000"/>
              </a:lnSpc>
              <a:buFont typeface="Wingdings" panose="05000000000000000000" charset="0"/>
              <a:buChar char="Ø"/>
            </a:pPr>
            <a:r>
              <a:rPr lang="en-US" altLang="en-US" sz="2400"/>
              <a:t>The user is prompted to solve the problem to stop the alarm.</a:t>
            </a:r>
            <a:endParaRPr lang="en-US" altLang="en-US" sz="2400"/>
          </a:p>
          <a:p>
            <a:pPr marL="285750" indent="-285750" algn="just">
              <a:lnSpc>
                <a:spcPct val="150000"/>
              </a:lnSpc>
              <a:buFont typeface="Wingdings" panose="05000000000000000000" charset="0"/>
              <a:buChar char="Ø"/>
            </a:pPr>
            <a:r>
              <a:rPr lang="en-US" altLang="en-US" sz="2400"/>
              <a:t>The program accepts user input and checks whether it is valid</a:t>
            </a:r>
            <a:r>
              <a:rPr lang="en-IN" altLang="en-US" sz="2400"/>
              <a:t> or not</a:t>
            </a:r>
            <a:r>
              <a:rPr lang="en-US" altLang="en-US" sz="2400"/>
              <a:t>.</a:t>
            </a:r>
            <a:endParaRPr lang="en-US" altLang="en-US" sz="2400"/>
          </a:p>
          <a:p>
            <a:pPr marL="0" indent="0" algn="just">
              <a:lnSpc>
                <a:spcPct val="150000"/>
              </a:lnSpc>
              <a:buFont typeface="Wingdings" panose="05000000000000000000" charset="0"/>
              <a:buNone/>
            </a:pPr>
            <a:endParaRPr lang="en-US" altLang="en-US"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b="1">
                <a:solidFill>
                  <a:srgbClr val="FF0000"/>
                </a:solidFill>
              </a:rPr>
              <a:t>Working of the Program(contd.)</a:t>
            </a:r>
            <a:endParaRPr lang="en-IN" altLang="en-US" b="1">
              <a:solidFill>
                <a:srgbClr val="FF0000"/>
              </a:solidFill>
            </a:endParaRPr>
          </a:p>
        </p:txBody>
      </p:sp>
      <p:sp>
        <p:nvSpPr>
          <p:cNvPr id="3" name="Text Box 2"/>
          <p:cNvSpPr txBox="1"/>
          <p:nvPr/>
        </p:nvSpPr>
        <p:spPr>
          <a:xfrm>
            <a:off x="1327785" y="1882775"/>
            <a:ext cx="9603105" cy="3964940"/>
          </a:xfrm>
          <a:prstGeom prst="rect">
            <a:avLst/>
          </a:prstGeom>
          <a:noFill/>
        </p:spPr>
        <p:txBody>
          <a:bodyPr wrap="square" rtlCol="0">
            <a:noAutofit/>
          </a:bodyPr>
          <a:p>
            <a:pPr marL="342900" indent="-342900" algn="just">
              <a:lnSpc>
                <a:spcPct val="150000"/>
              </a:lnSpc>
              <a:buFont typeface="Wingdings" panose="05000000000000000000" charset="0"/>
              <a:buChar char="Ø"/>
            </a:pPr>
            <a:r>
              <a:rPr lang="en-US" altLang="en-US" sz="2400">
                <a:sym typeface="+mn-ea"/>
              </a:rPr>
              <a:t>If the entered answer is incorrect, the alarm continues to ring and the user is asked again</a:t>
            </a:r>
            <a:r>
              <a:rPr lang="en-IN" altLang="en-US" sz="2400">
                <a:sym typeface="+mn-ea"/>
              </a:rPr>
              <a:t> until the user enters correct answer</a:t>
            </a:r>
            <a:r>
              <a:rPr lang="en-US" altLang="en-US" sz="2400">
                <a:sym typeface="+mn-ea"/>
              </a:rPr>
              <a:t>.</a:t>
            </a:r>
            <a:endParaRPr lang="en-US" altLang="en-US" sz="2400"/>
          </a:p>
          <a:p>
            <a:pPr marL="342900" indent="-342900" algn="just">
              <a:lnSpc>
                <a:spcPct val="150000"/>
              </a:lnSpc>
              <a:buFont typeface="Wingdings" panose="05000000000000000000" charset="0"/>
              <a:buChar char="Ø"/>
            </a:pPr>
            <a:r>
              <a:rPr lang="en-US" altLang="en-US" sz="2400"/>
              <a:t>If the answer is correct, the alarm sound stops immediately.</a:t>
            </a:r>
            <a:endParaRPr lang="en-US" altLang="en-US" sz="2400"/>
          </a:p>
          <a:p>
            <a:pPr marL="342900" indent="-342900" algn="just">
              <a:lnSpc>
                <a:spcPct val="150000"/>
              </a:lnSpc>
              <a:buFont typeface="Wingdings" panose="05000000000000000000" charset="0"/>
              <a:buChar char="Ø"/>
            </a:pPr>
            <a:r>
              <a:rPr lang="en-US" altLang="en-US" sz="2400"/>
              <a:t>A confirmation message is displayed indicating the alarm has been stopped.</a:t>
            </a:r>
            <a:endParaRPr lang="en-US" altLang="en-US" sz="2400"/>
          </a:p>
          <a:p>
            <a:pPr marL="342900" indent="-342900" algn="just">
              <a:lnSpc>
                <a:spcPct val="150000"/>
              </a:lnSpc>
              <a:buFont typeface="Wingdings" panose="05000000000000000000" charset="0"/>
              <a:buChar char="Ø"/>
            </a:pPr>
            <a:r>
              <a:rPr lang="en-US" altLang="en-US" sz="2400"/>
              <a:t>The program then terminates successfully.</a:t>
            </a:r>
            <a:endParaRPr lang="en-US" altLang="en-US"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shot 2026-03-26 120434"/>
          <p:cNvPicPr>
            <a:picLocks noChangeAspect="1"/>
          </p:cNvPicPr>
          <p:nvPr/>
        </p:nvPicPr>
        <p:blipFill>
          <a:blip r:embed="rId1"/>
          <a:stretch>
            <a:fillRect/>
          </a:stretch>
        </p:blipFill>
        <p:spPr>
          <a:xfrm>
            <a:off x="409575" y="730250"/>
            <a:ext cx="4300220" cy="1314450"/>
          </a:xfrm>
          <a:prstGeom prst="rect">
            <a:avLst/>
          </a:prstGeom>
        </p:spPr>
      </p:pic>
      <p:sp>
        <p:nvSpPr>
          <p:cNvPr id="5" name="Text Box 4"/>
          <p:cNvSpPr txBox="1"/>
          <p:nvPr/>
        </p:nvSpPr>
        <p:spPr>
          <a:xfrm>
            <a:off x="6969125" y="1012825"/>
            <a:ext cx="4616450" cy="966470"/>
          </a:xfrm>
          <a:prstGeom prst="rect">
            <a:avLst/>
          </a:prstGeom>
          <a:noFill/>
        </p:spPr>
        <p:txBody>
          <a:bodyPr wrap="square" rtlCol="0">
            <a:noAutofit/>
          </a:bodyPr>
          <a:p>
            <a:pPr algn="just"/>
            <a:r>
              <a:rPr lang="en-IN" altLang="en-US" sz="2400" b="1"/>
              <a:t>Importing time,sound,random modules.</a:t>
            </a:r>
            <a:endParaRPr lang="en-IN" altLang="en-US" sz="2400" b="1"/>
          </a:p>
        </p:txBody>
      </p:sp>
      <p:sp>
        <p:nvSpPr>
          <p:cNvPr id="7" name="Left Arrow 6"/>
          <p:cNvSpPr/>
          <p:nvPr/>
        </p:nvSpPr>
        <p:spPr>
          <a:xfrm>
            <a:off x="5130800" y="1229995"/>
            <a:ext cx="1132840" cy="322580"/>
          </a:xfrm>
          <a:prstGeom prst="leftArrow">
            <a:avLst/>
          </a:prstGeom>
          <a:solidFill>
            <a:schemeClr val="tx1"/>
          </a:solidFill>
        </p:spPr>
        <p:style>
          <a:lnRef idx="0">
            <a:srgbClr val="FFFFFF"/>
          </a:lnRef>
          <a:fillRef idx="1">
            <a:schemeClr val="accent1"/>
          </a:fillRef>
          <a:effectRef idx="0">
            <a:srgbClr val="FFFFFF"/>
          </a:effectRef>
          <a:fontRef idx="minor">
            <a:schemeClr val="lt1"/>
          </a:fontRef>
        </p:style>
        <p:txBody>
          <a:bodyPr rtlCol="0" anchor="ctr"/>
          <a:p>
            <a:pPr algn="ctr"/>
            <a:endParaRPr lang="en-US"/>
          </a:p>
        </p:txBody>
      </p:sp>
      <p:pic>
        <p:nvPicPr>
          <p:cNvPr id="8" name="Picture 7" descr="Screenshot 2026-03-26 120735"/>
          <p:cNvPicPr>
            <a:picLocks noChangeAspect="1"/>
          </p:cNvPicPr>
          <p:nvPr/>
        </p:nvPicPr>
        <p:blipFill>
          <a:blip r:embed="rId2"/>
          <a:stretch>
            <a:fillRect/>
          </a:stretch>
        </p:blipFill>
        <p:spPr>
          <a:xfrm>
            <a:off x="273050" y="3077845"/>
            <a:ext cx="5211445" cy="1550670"/>
          </a:xfrm>
          <a:prstGeom prst="rect">
            <a:avLst/>
          </a:prstGeom>
        </p:spPr>
      </p:pic>
      <p:sp>
        <p:nvSpPr>
          <p:cNvPr id="9" name="Text Box 8"/>
          <p:cNvSpPr txBox="1"/>
          <p:nvPr/>
        </p:nvSpPr>
        <p:spPr>
          <a:xfrm>
            <a:off x="7072630" y="3194050"/>
            <a:ext cx="4698365" cy="1249680"/>
          </a:xfrm>
          <a:prstGeom prst="rect">
            <a:avLst/>
          </a:prstGeom>
          <a:noFill/>
        </p:spPr>
        <p:txBody>
          <a:bodyPr wrap="square" rtlCol="0">
            <a:noAutofit/>
          </a:bodyPr>
          <a:p>
            <a:pPr algn="just"/>
            <a:r>
              <a:rPr lang="en-IN" altLang="en-US" sz="2400" b="1"/>
              <a:t>Taking input(alarm time) from user which will be stored in alarm_time </a:t>
            </a:r>
            <a:endParaRPr lang="en-IN" altLang="en-US" sz="2400" b="1"/>
          </a:p>
        </p:txBody>
      </p:sp>
      <p:sp>
        <p:nvSpPr>
          <p:cNvPr id="13" name="Left Arrow 12"/>
          <p:cNvSpPr/>
          <p:nvPr/>
        </p:nvSpPr>
        <p:spPr>
          <a:xfrm>
            <a:off x="5760720" y="3673475"/>
            <a:ext cx="1045210" cy="394970"/>
          </a:xfrm>
          <a:prstGeom prst="leftArrow">
            <a:avLst/>
          </a:prstGeom>
          <a:solidFill>
            <a:schemeClr val="tx1"/>
          </a:solidFill>
        </p:spPr>
        <p:style>
          <a:lnRef idx="0">
            <a:srgbClr val="FFFFFF"/>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shot 2026-03-26 121103"/>
          <p:cNvPicPr>
            <a:picLocks noChangeAspect="1"/>
          </p:cNvPicPr>
          <p:nvPr/>
        </p:nvPicPr>
        <p:blipFill>
          <a:blip r:embed="rId1"/>
          <a:stretch>
            <a:fillRect/>
          </a:stretch>
        </p:blipFill>
        <p:spPr>
          <a:xfrm>
            <a:off x="212725" y="741680"/>
            <a:ext cx="5533390" cy="4104640"/>
          </a:xfrm>
          <a:prstGeom prst="rect">
            <a:avLst/>
          </a:prstGeom>
        </p:spPr>
      </p:pic>
      <p:sp>
        <p:nvSpPr>
          <p:cNvPr id="3" name="Text Box 2"/>
          <p:cNvSpPr txBox="1"/>
          <p:nvPr/>
        </p:nvSpPr>
        <p:spPr>
          <a:xfrm>
            <a:off x="7463155" y="878205"/>
            <a:ext cx="4415155" cy="2459355"/>
          </a:xfrm>
          <a:prstGeom prst="rect">
            <a:avLst/>
          </a:prstGeom>
          <a:noFill/>
        </p:spPr>
        <p:txBody>
          <a:bodyPr wrap="square" rtlCol="0">
            <a:noAutofit/>
          </a:bodyPr>
          <a:p>
            <a:endParaRPr lang="en-US"/>
          </a:p>
        </p:txBody>
      </p:sp>
      <p:sp>
        <p:nvSpPr>
          <p:cNvPr id="4" name="Text Box 3"/>
          <p:cNvSpPr txBox="1"/>
          <p:nvPr/>
        </p:nvSpPr>
        <p:spPr>
          <a:xfrm>
            <a:off x="7664450" y="897890"/>
            <a:ext cx="4323715" cy="3857625"/>
          </a:xfrm>
          <a:prstGeom prst="rect">
            <a:avLst/>
          </a:prstGeom>
          <a:noFill/>
        </p:spPr>
        <p:txBody>
          <a:bodyPr wrap="square" rtlCol="0">
            <a:noAutofit/>
          </a:bodyPr>
          <a:p>
            <a:pPr marL="342900" indent="-342900" algn="just">
              <a:buFont typeface="Wingdings" panose="05000000000000000000" charset="0"/>
              <a:buChar char="Ø"/>
            </a:pPr>
            <a:r>
              <a:rPr lang="en-IN" altLang="en-US" sz="2400" b="1"/>
              <a:t>It checks the current time if current matches with alarm time then alarm will ring a sound using winsound module.</a:t>
            </a:r>
            <a:endParaRPr lang="en-IN" altLang="en-US" sz="2400" b="1"/>
          </a:p>
          <a:p>
            <a:pPr marL="342900" indent="-342900" algn="just">
              <a:buFont typeface="Wingdings" panose="05000000000000000000" charset="0"/>
              <a:buChar char="Ø"/>
            </a:pPr>
            <a:r>
              <a:rPr lang="en-IN" altLang="en-US" sz="2400" b="1"/>
              <a:t>num1 and num2 are  numbers which generated by computer sum of those 2 numbers is stored in correct answer.</a:t>
            </a:r>
            <a:endParaRPr lang="en-IN" altLang="en-US" sz="2400" b="1"/>
          </a:p>
        </p:txBody>
      </p:sp>
      <p:sp>
        <p:nvSpPr>
          <p:cNvPr id="5" name="Left Arrow 4"/>
          <p:cNvSpPr/>
          <p:nvPr/>
        </p:nvSpPr>
        <p:spPr>
          <a:xfrm>
            <a:off x="5948680" y="2444115"/>
            <a:ext cx="1189990" cy="645795"/>
          </a:xfrm>
          <a:prstGeom prst="leftArrow">
            <a:avLst/>
          </a:prstGeom>
          <a:solidFill>
            <a:schemeClr val="tx1"/>
          </a:solidFill>
        </p:spPr>
        <p:style>
          <a:lnRef idx="0">
            <a:srgbClr val="FFFFFF"/>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Screenshot 2026-03-26 121647"/>
          <p:cNvPicPr>
            <a:picLocks noChangeAspect="1"/>
          </p:cNvPicPr>
          <p:nvPr/>
        </p:nvPicPr>
        <p:blipFill>
          <a:blip r:embed="rId1"/>
          <a:stretch>
            <a:fillRect/>
          </a:stretch>
        </p:blipFill>
        <p:spPr>
          <a:xfrm>
            <a:off x="292735" y="1474470"/>
            <a:ext cx="5471160" cy="3232150"/>
          </a:xfrm>
          <a:prstGeom prst="rect">
            <a:avLst/>
          </a:prstGeom>
        </p:spPr>
      </p:pic>
      <p:sp>
        <p:nvSpPr>
          <p:cNvPr id="2" name="Text Box 1"/>
          <p:cNvSpPr txBox="1"/>
          <p:nvPr/>
        </p:nvSpPr>
        <p:spPr>
          <a:xfrm>
            <a:off x="7281545" y="1473835"/>
            <a:ext cx="4313555" cy="3232785"/>
          </a:xfrm>
          <a:prstGeom prst="rect">
            <a:avLst/>
          </a:prstGeom>
          <a:noFill/>
        </p:spPr>
        <p:txBody>
          <a:bodyPr wrap="square" rtlCol="0">
            <a:noAutofit/>
          </a:bodyPr>
          <a:p>
            <a:pPr algn="just"/>
            <a:r>
              <a:rPr lang="en-IN" altLang="en-US" sz="2400" b="1"/>
              <a:t>If the user entered answer matches with correct answer then it display Correct! Alarm stopped message else wrong answer Try again.The alarm sound will ring until you enter correct answer.</a:t>
            </a:r>
            <a:endParaRPr lang="en-IN" altLang="en-US" sz="2400" b="1"/>
          </a:p>
        </p:txBody>
      </p:sp>
      <p:sp>
        <p:nvSpPr>
          <p:cNvPr id="3" name="Left Arrow 2"/>
          <p:cNvSpPr/>
          <p:nvPr/>
        </p:nvSpPr>
        <p:spPr>
          <a:xfrm>
            <a:off x="6031865" y="2635250"/>
            <a:ext cx="957580" cy="455930"/>
          </a:xfrm>
          <a:prstGeom prst="leftArrow">
            <a:avLst/>
          </a:prstGeom>
          <a:solidFill>
            <a:schemeClr val="tx1"/>
          </a:solidFill>
        </p:spPr>
        <p:style>
          <a:lnRef idx="0">
            <a:srgbClr val="FFFFFF"/>
          </a:lnRef>
          <a:fillRef idx="1">
            <a:schemeClr val="accent1"/>
          </a:fillRef>
          <a:effectRef idx="0">
            <a:srgbClr val="FFFFFF"/>
          </a:effectRef>
          <a:fontRef idx="minor">
            <a:schemeClr val="lt1"/>
          </a:fontRef>
        </p:style>
        <p:txBody>
          <a:bodyPr rtlCol="0" anchor="ctr"/>
          <a:p>
            <a:pPr algn="ct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7881" y="270457"/>
            <a:ext cx="7508383" cy="769441"/>
          </a:xfrm>
          <a:prstGeom prst="rect">
            <a:avLst/>
          </a:prstGeom>
          <a:noFill/>
        </p:spPr>
        <p:txBody>
          <a:bodyPr wrap="square" rtlCol="0">
            <a:spAutoFit/>
          </a:bodyPr>
          <a:lstStyle/>
          <a:p>
            <a:r>
              <a:rPr lang="en-US" sz="4400" b="1" u="sng" dirty="0">
                <a:solidFill>
                  <a:srgbClr val="FF0000"/>
                </a:solidFill>
              </a:rPr>
              <a:t>Execution Of The Code</a:t>
            </a:r>
            <a:endParaRPr lang="en-IN" sz="4400" b="1" u="sng" dirty="0">
              <a:solidFill>
                <a:srgbClr val="FF0000"/>
              </a:solidFill>
            </a:endParaRPr>
          </a:p>
        </p:txBody>
      </p:sp>
      <p:pic>
        <p:nvPicPr>
          <p:cNvPr id="3" name="Picture 2" descr="Screenshot 2026-03-26 122245"/>
          <p:cNvPicPr>
            <a:picLocks noChangeAspect="1"/>
          </p:cNvPicPr>
          <p:nvPr/>
        </p:nvPicPr>
        <p:blipFill>
          <a:blip r:embed="rId1"/>
          <a:stretch>
            <a:fillRect/>
          </a:stretch>
        </p:blipFill>
        <p:spPr>
          <a:xfrm>
            <a:off x="95250" y="1680210"/>
            <a:ext cx="6268085" cy="627380"/>
          </a:xfrm>
          <a:prstGeom prst="rect">
            <a:avLst/>
          </a:prstGeom>
        </p:spPr>
      </p:pic>
      <p:pic>
        <p:nvPicPr>
          <p:cNvPr id="6" name="Picture 5" descr="Screenshot 2026-03-26 122202"/>
          <p:cNvPicPr>
            <a:picLocks noChangeAspect="1"/>
          </p:cNvPicPr>
          <p:nvPr/>
        </p:nvPicPr>
        <p:blipFill>
          <a:blip r:embed="rId2"/>
          <a:stretch>
            <a:fillRect/>
          </a:stretch>
        </p:blipFill>
        <p:spPr>
          <a:xfrm>
            <a:off x="95250" y="2707640"/>
            <a:ext cx="6268085" cy="3458845"/>
          </a:xfrm>
          <a:prstGeom prst="rect">
            <a:avLst/>
          </a:prstGeom>
        </p:spPr>
      </p:pic>
      <p:sp>
        <p:nvSpPr>
          <p:cNvPr id="4" name="Left Arrow 3"/>
          <p:cNvSpPr/>
          <p:nvPr/>
        </p:nvSpPr>
        <p:spPr>
          <a:xfrm>
            <a:off x="7071360" y="1823720"/>
            <a:ext cx="875030" cy="355600"/>
          </a:xfrm>
          <a:prstGeom prst="leftArrow">
            <a:avLst/>
          </a:prstGeom>
          <a:solidFill>
            <a:schemeClr val="tx1"/>
          </a:solidFill>
        </p:spPr>
        <p:style>
          <a:lnRef idx="0">
            <a:srgbClr val="FFFFFF"/>
          </a:lnRef>
          <a:fillRef idx="1">
            <a:schemeClr val="accent1"/>
          </a:fillRef>
          <a:effectRef idx="0">
            <a:srgbClr val="FFFFFF"/>
          </a:effectRef>
          <a:fontRef idx="minor">
            <a:schemeClr val="lt1"/>
          </a:fontRef>
        </p:style>
        <p:txBody>
          <a:bodyPr rtlCol="0" anchor="ctr"/>
          <a:p>
            <a:pPr algn="ctr"/>
            <a:endParaRPr lang="en-US"/>
          </a:p>
        </p:txBody>
      </p:sp>
      <p:sp>
        <p:nvSpPr>
          <p:cNvPr id="5" name="Text Box 4"/>
          <p:cNvSpPr txBox="1"/>
          <p:nvPr/>
        </p:nvSpPr>
        <p:spPr>
          <a:xfrm>
            <a:off x="8148955" y="1680210"/>
            <a:ext cx="3779520" cy="793115"/>
          </a:xfrm>
          <a:prstGeom prst="rect">
            <a:avLst/>
          </a:prstGeom>
          <a:noFill/>
        </p:spPr>
        <p:txBody>
          <a:bodyPr wrap="square" rtlCol="0">
            <a:noAutofit/>
          </a:bodyPr>
          <a:p>
            <a:r>
              <a:rPr lang="en-IN" altLang="en-US" sz="2400" b="1"/>
              <a:t>Enter input in 24 hour format time</a:t>
            </a:r>
            <a:endParaRPr lang="en-IN" altLang="en-US" sz="2400" b="1"/>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u="sng" dirty="0">
                <a:solidFill>
                  <a:srgbClr val="FF0000"/>
                </a:solidFill>
              </a:rPr>
              <a:t>Conclusion</a:t>
            </a:r>
            <a:endParaRPr lang="en-IN" b="1" u="sng" dirty="0">
              <a:solidFill>
                <a:srgbClr val="FF0000"/>
              </a:solidFill>
            </a:endParaRPr>
          </a:p>
        </p:txBody>
      </p:sp>
      <p:sp>
        <p:nvSpPr>
          <p:cNvPr id="3" name="Rectangle 1"/>
          <p:cNvSpPr>
            <a:spLocks noChangeArrowheads="1"/>
          </p:cNvSpPr>
          <p:nvPr/>
        </p:nvSpPr>
        <p:spPr bwMode="auto">
          <a:xfrm>
            <a:off x="838200" y="1941830"/>
            <a:ext cx="10874375" cy="32429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Autofit/>
          </a:bodyPr>
          <a:lstStyle/>
          <a:p>
            <a:pPr marL="0" marR="0" lvl="0" indent="0" algn="l" defTabSz="914400" rtl="0" eaLnBrk="0" fontAlgn="base" latinLnBrk="0" hangingPunct="0">
              <a:lnSpc>
                <a:spcPct val="100000"/>
              </a:lnSpc>
              <a:spcBef>
                <a:spcPct val="0"/>
              </a:spcBef>
              <a:spcAft>
                <a:spcPct val="0"/>
              </a:spcAft>
              <a:buClrTx/>
              <a:buSzTx/>
              <a:buFontTx/>
              <a:buChar char="•"/>
            </a:pP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
        <p:nvSpPr>
          <p:cNvPr id="4" name="Text Box 3"/>
          <p:cNvSpPr txBox="1"/>
          <p:nvPr/>
        </p:nvSpPr>
        <p:spPr>
          <a:xfrm>
            <a:off x="1106805" y="1749425"/>
            <a:ext cx="10056495" cy="3435350"/>
          </a:xfrm>
          <a:prstGeom prst="rect">
            <a:avLst/>
          </a:prstGeom>
          <a:noFill/>
        </p:spPr>
        <p:txBody>
          <a:bodyPr wrap="square" rtlCol="0">
            <a:noAutofit/>
          </a:bodyPr>
          <a:p>
            <a:pPr algn="just">
              <a:lnSpc>
                <a:spcPct val="150000"/>
              </a:lnSpc>
            </a:pPr>
            <a:r>
              <a:rPr lang="en-US" altLang="en-US" sz="2400"/>
              <a:t>The Solve 2 Silence project successfully demonstrates the development of an intelligent and interactive alarm system that enhances user alertness through active engagement. By integrating a problem-solving mechanism, the system effectively prevents users from passively dismissing the alarm, thereby reducing the chances of oversleeping.</a:t>
            </a:r>
            <a:endParaRPr lang="en-US" altLang="en-US"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1"/>
          <a:stretch>
            <a:fillRect/>
          </a:stretch>
        </p:blipFill>
        <p:spPr>
          <a:xfrm>
            <a:off x="3357245" y="1512570"/>
            <a:ext cx="5652770" cy="3031490"/>
          </a:xfrm>
          <a:prstGeom prst="rect">
            <a:avLst/>
          </a:prstGeom>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pic>
        <p:nvPicPr>
          <p:cNvPr id="4" name="Picture 3"/>
          <p:cNvPicPr/>
          <p:nvPr/>
        </p:nvPicPr>
        <p:blipFill>
          <a:blip r:embed="rId1"/>
          <a:stretch>
            <a:fillRect/>
          </a:stretch>
        </p:blipFill>
        <p:spPr>
          <a:xfrm>
            <a:off x="3520440" y="853440"/>
            <a:ext cx="5198110" cy="4952365"/>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5536</Words>
  <Application>WPS Presentation</Application>
  <PresentationFormat>Widescreen</PresentationFormat>
  <Paragraphs>110</Paragraphs>
  <Slides>19</Slides>
  <Notes>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19</vt:i4>
      </vt:variant>
    </vt:vector>
  </HeadingPairs>
  <TitlesOfParts>
    <vt:vector size="30" baseType="lpstr">
      <vt:lpstr>Arial</vt:lpstr>
      <vt:lpstr>SimSun</vt:lpstr>
      <vt:lpstr>Wingdings</vt:lpstr>
      <vt:lpstr>Arial</vt:lpstr>
      <vt:lpstr>Calibri</vt:lpstr>
      <vt:lpstr>Lato Black</vt:lpstr>
      <vt:lpstr>Calibri</vt:lpstr>
      <vt:lpstr>Wingdings</vt:lpstr>
      <vt:lpstr>Microsoft YaHei</vt:lpstr>
      <vt:lpstr>Arial Unicode MS</vt:lpstr>
      <vt:lpstr>Office Theme</vt:lpstr>
      <vt:lpstr>PowerPoint 演示文稿</vt:lpstr>
      <vt:lpstr>PowerPoint 演示文稿</vt:lpstr>
      <vt:lpstr>Agenda</vt:lpstr>
      <vt:lpstr>Business Problem</vt:lpstr>
      <vt:lpstr>PowerPoint 演示文稿</vt:lpstr>
      <vt:lpstr>Objective</vt:lpstr>
      <vt:lpstr>Problem Statement</vt:lpstr>
      <vt:lpstr>Concepts Used</vt:lpstr>
      <vt:lpstr>Concepts Used (contd.)</vt:lpstr>
      <vt:lpstr>Working of the Program</vt:lpstr>
      <vt:lpstr>Working of the Program(contd.)</vt:lpstr>
      <vt:lpstr>Working of the Program(contd.)</vt:lpstr>
      <vt:lpstr>PowerPoint 演示文稿</vt:lpstr>
      <vt:lpstr>PowerPoint 演示文稿</vt:lpstr>
      <vt:lpstr>PowerPoint 演示文稿</vt:lpstr>
      <vt:lpstr>PowerPoint 演示文稿</vt:lpstr>
      <vt:lpstr>Conclusion</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Raghu Ram Aduri</dc:creator>
  <cp:lastModifiedBy>keerthana</cp:lastModifiedBy>
  <cp:revision>27</cp:revision>
  <dcterms:created xsi:type="dcterms:W3CDTF">2021-02-16T05:19:00Z</dcterms:created>
  <dcterms:modified xsi:type="dcterms:W3CDTF">2026-03-27T15:03:37Z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1033-12.1.0.25242</vt:lpwstr>
  </property>
  <property fmtid="{D5CDD505-2E9C-101B-9397-08002B2CF9AE}" pid="3" name="ICV">
    <vt:lpwstr>063F8F53E8DC404AACA7A7AECE2B24F0_13</vt:lpwstr>
  </property>
</Properties>
</file>